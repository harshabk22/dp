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8"/>
  </p:notesMasterIdLst>
  <p:handoutMasterIdLst>
    <p:handoutMasterId r:id="rId29"/>
  </p:handoutMasterIdLst>
  <p:sldIdLst>
    <p:sldId id="507" r:id="rId2"/>
    <p:sldId id="1027" r:id="rId3"/>
    <p:sldId id="1012" r:id="rId4"/>
    <p:sldId id="1013" r:id="rId5"/>
    <p:sldId id="1046" r:id="rId6"/>
    <p:sldId id="1047" r:id="rId7"/>
    <p:sldId id="1048" r:id="rId8"/>
    <p:sldId id="1049" r:id="rId9"/>
    <p:sldId id="1014" r:id="rId10"/>
    <p:sldId id="1015" r:id="rId11"/>
    <p:sldId id="1034" r:id="rId12"/>
    <p:sldId id="1036" r:id="rId13"/>
    <p:sldId id="1037" r:id="rId14"/>
    <p:sldId id="1011" r:id="rId15"/>
    <p:sldId id="1026" r:id="rId16"/>
    <p:sldId id="1033" r:id="rId17"/>
    <p:sldId id="1038" r:id="rId18"/>
    <p:sldId id="1039" r:id="rId19"/>
    <p:sldId id="1040" r:id="rId20"/>
    <p:sldId id="1044" r:id="rId21"/>
    <p:sldId id="1045" r:id="rId22"/>
    <p:sldId id="1041" r:id="rId23"/>
    <p:sldId id="1025" r:id="rId24"/>
    <p:sldId id="1042" r:id="rId25"/>
    <p:sldId id="1043" r:id="rId26"/>
    <p:sldId id="1035" r:id="rId2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012"/>
    <p:restoredTop sz="94651"/>
  </p:normalViewPr>
  <p:slideViewPr>
    <p:cSldViewPr snapToGrid="0">
      <p:cViewPr>
        <p:scale>
          <a:sx n="78" d="100"/>
          <a:sy n="78" d="100"/>
        </p:scale>
        <p:origin x="3768" y="1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HarshaVardhan BK       2411021061475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Praveen Kumar G         2411021061449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Vikas Jadhav                 2411021061485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Kushal R                       2411021061474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b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 of the Mentor: Ms. Saswati Debnath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E1CSA313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822960" y="594360"/>
            <a:ext cx="704088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AI-Based Smart Meal Analyzer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&amp; Personalized Nutrition Recommendation System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51560"/>
            <a:ext cx="109728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Meal images are easy to capture, but reliable nutrient estimates remain difficult.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Users need portion-aware estimates, verified food data, and recommendations that respect allergies, health conditions, and preferences.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This project combines computer vision, food-composition lookup, safety rules, and personalized ranking in one transparent workflow.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Goal: build a clear, low-cost prototype that shows its evidence and allows user correction.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388E515-7DA4-4EC4-922F-F3FCE0C4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250D3DD8-F8CE-44A3-AC54-0E84875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05E1A72F-2375-4691-AD7F-6DD535BC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524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Dalakleidi et al. (2022)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Image-based food recognition review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Reviewed 78 food-image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Food-101 accuracy: 55.3–90.3%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Maps system steps and failure cases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is not nutrient accuracy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Stefanidis et al. (2022)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Knowledge-based meal recommendation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 method; 3,000 virtual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Rejection score (F1): 0.995; energy +7.32%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Separates safety from optimization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Synthetic profiles; no clinical outcome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05941357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Moyen et al. (2022)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AI app for dietary assessment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Randomized crossover; 136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difference: −32 kcal/day; usability 77 vs 53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usability and correction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Wide individual error; short study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4199429498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Shonkoff et al. (2023)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Digital image dietary assessment review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review: 52 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relative error: energy 0.10–38.3%; volume 0.09–33%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why reference methods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 varied to combine; food-database labels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41694103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E294633E-F5D1-4EDE-B451-D7D5D8A5C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C906A4B2-586E-4C82-BD66-5072347E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5C37BED9-2223-432E-969D-9056194A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76A0A60B-2571-4E09-96C2-F25CC45EE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Wu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OVFoodSeg: open-vocabulary food segmentation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for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 gains: +4.9/+3.5 points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Handles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reports mixed values; no portion/nutrient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Papathanail et al. (2023)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goFOOD: free-living meal assessment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+ portions + database; 49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Fine top-1: 58.7%; energy error 27.4% vs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Practical image-to-nutrient workflow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hidden oil;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087197256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Konstantakopoulos et al. (2023)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Automated assessment of Mediterranean foods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images + reference card; volume estimate; 148 dishes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 recognition: 83.8%; volume error 10.5%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Volume estimate for a specific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two images/card; no nutrient error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633364338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(2023)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Personalized flexible meal planning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ranking; 39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Helpful: 38/39; saved time: 37/39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separate from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health-outcome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4351168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BF3CE074-B917-4BEB-9352-B325DE7B3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F1A17F2C-4286-47D7-9552-B0238679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D3528561-2C78-48AB-ABE8-7839342E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AF10FE5D-776C-4AF1-A4A5-CCF0E1231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585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Romero-Tapiador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Are vision-language models ready?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 vision-language models; 9,263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Gemini recognition: 70.2% average; 50.0% with cooking style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 labeled benchmark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only; no 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Zhao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Visual nutrition analysis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+ nutrient prediction; 3,224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Food-region overlap: 97.69%; benchmark calorie error 15.68%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Predicts several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 images; limited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261593936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Papastratis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Deep generative nutrition recommendation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planner; virtual + real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Nutrition-target agreement: 87% virtual; 84% real; about 0.5 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plans with nutrition limits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virtual; no real-user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10509977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Yang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ChatDiet: nutrition recommender chatbot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Personal data + food lookup + chatbot; 400 pairs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92% manually judged correct; 400 synthetic pairs; one-person case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Explains personal recommendations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synthetic; depends on assumptions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7676356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D8A1167D-8024-4834-AF6D-17F718FCC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2977FF15-39B1-4A97-98CC-2D1B9A1F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C56E7C8E-23E2-412B-B68E-E23A8285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5E77B300-BD8A-41DB-B12B-54560D162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5939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(2024)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Reinforcement learning for meal plans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Ratings + feedback; 180,000 recipes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 score 0.90; preference 0.84; acceptance 4.5/5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Adds taste and feedback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Offline; no allergy safety; basic model matched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DietAI24: multimodal nutrition estimation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 → food names → food-database lookup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error: 47.7 / 68.2 kcal (two test sets)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food data, not model memory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U.S.-centric; closed model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328788093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O’Hara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ChatGPT nutrient estimation from photos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ChatGPT-4; 38 weighed meals; 16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88.6%; mean absolute difference: weight 27.8%; nutrients 26.9%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chatbot nutrient bias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food database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1362194735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Khlaisamniang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Two-step food-image nutrition analysis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Identify food/portions; get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GPT-4o: 78.49 kcal error; 12.11% better than one-step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step-by-step reasoning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Hidden ingredients; Gindee result differs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94091602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69214032-00E0-4045-9CCC-DFF25B5FC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210B264-8B68-4C08-84E5-BE2C9296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C0EA682D-70E5-4ADD-A5F7-5A3CB6DD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DFE7F002-3DC8-4217-81E6-552C73FFB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5680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Zhang et al. (2025)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MOPI-HFRS: health-aware food recommendation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 data + preference ranking + explanations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 ranking/diversity; no clinical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health and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dataset; fixed tags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Wang et al. (2026)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Hospital food nutrition recognition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Color + depth images + markers + weighing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99.2%; reported volume ratio 85.4%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Controlled, recorded meals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Hospital-only; volume values differ; no patient-outcome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02491873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Vedovelli et al. (2026)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architecture and nutrition estimation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vision-language models; seven prompts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benchmark error: 45.6%; architecture explains 99.6% of variation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choice matters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clinical; provider effects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288759273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lIns="60000" tIns="30000" rIns="60000" bIns="30000" anchor="ctr" wrap="square">
                      <a:normAutofit/>
                    </a:bodyPr>
                    <a:lstStyle/>
                    <a:p>
                      <a:pPr marL="0" indent="0" algn="l">
                        <a:spcAft>
                          <a:spcPts val="20"/>
                        </a:spcAft>
                        <a:buNone/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Serra et al. (2026)</a:t>
                      </a:r>
                      <a:endParaRPr lang="en-IN"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IN" sz="1150" dirty="0" i="1">
                          <a:solidFill>
                            <a:srgbClr val="40404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Validity of an AI food app</a:t>
                      </a:r>
                      <a:endParaRPr lang="en-IN" sz="115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SNAQ; 20 women; doubly labelled water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bias: −817 kcal/day; association near zero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Stronger reference method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female sample; estimated intake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7943043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7D444838-CF7C-45F3-B0CD-D20F448F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Recognition accuracy does not guarantee calorie or nutrient accuracy.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size, hidden oil, ingredients, and cooking method drive most errors.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Verified food-database retrieval is safer than asking an LLM to remember nutrients.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Safety rules and human correction are necessary for trustworthy recommendations.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Personalization should come after measurement and safety filtering.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Mixed dishes, occlusion, lighting, and plate size reduce reliability.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Many datasets are small, synthetic, or culturally narrow.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Most studies use reference tables instead of weighed or clinical ground truth.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Proprietary models and closed databases limit reproducibility.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Acceptance scores do not prove adherence, safety, or health outcomes.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60"/>
            <a:ext cx="11006138" cy="25968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Problem: Existing apps often recognize foods but do not provide transparent, portion-aware nutrient estimates.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Scope: Image capture → food/portion analysis → verified nutrient lookup → safety filtering → personalized recommendations.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Include: User profile, allergies, dietary preferences, confidence scores, and correction controls.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Exclude: Medical diagnosis, treatment plans, and unsupported clinical claims.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Deliverable: A simple prototype for general nutrition support and dietetic consultation.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75887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The gap our system addresses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Existing apps"/>
          <p:cNvSpPr/>
          <p:nvPr/>
        </p:nvSpPr>
        <p:spPr>
          <a:xfrm>
            <a:off x="685800" y="4069080"/>
            <a:ext cx="2971800" cy="9601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Existing apps — recognize food, stop there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3730752" y="4416552"/>
            <a:ext cx="256032" cy="256032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Current gap"/>
          <p:cNvSpPr/>
          <p:nvPr/>
        </p:nvSpPr>
        <p:spPr>
          <a:xfrm>
            <a:off x="4069080" y="4069080"/>
            <a:ext cx="2971800" cy="96012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C0504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Current gap — no portion-aware, transparent estimate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7114032" y="4416552"/>
            <a:ext cx="256032" cy="256032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his project"/>
          <p:cNvSpPr/>
          <p:nvPr/>
        </p:nvSpPr>
        <p:spPr>
          <a:xfrm>
            <a:off x="7452360" y="4069080"/>
            <a:ext cx="2971800" cy="960120"/>
          </a:xfrm>
          <a:prstGeom prst="roundRect">
            <a:avLst/>
          </a:prstGeom>
          <a:solidFill>
            <a:srgbClr val="D9E2F3"/>
          </a:solidFill>
          <a:ln w="12700">
            <a:solidFill>
              <a:srgbClr val="4F81B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This project — evidence, safety, correction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In scope"/>
          <p:cNvSpPr/>
          <p:nvPr/>
        </p:nvSpPr>
        <p:spPr>
          <a:xfrm>
            <a:off x="685800" y="5440680"/>
            <a:ext cx="5120640" cy="502920"/>
          </a:xfrm>
          <a:prstGeom prst="roundRect">
            <a:avLst/>
          </a:prstGeom>
          <a:solidFill>
            <a:srgbClr val="D9E2F3"/>
          </a:solidFill>
          <a:ln w="12700">
            <a:solidFill>
              <a:srgbClr val="4F81BD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IN SCOPE  Image → nutrients → safe recommendations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Out of scope"/>
          <p:cNvSpPr/>
          <p:nvPr/>
        </p:nvSpPr>
        <p:spPr>
          <a:xfrm>
            <a:off x="5989320" y="5440680"/>
            <a:ext cx="5120640" cy="502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OUT OF SCOPE  Diagnosis, treatment, clinical claims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59"/>
            <a:ext cx="10972800" cy="269747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layered, human-in-the-loop system: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Capture one meal image and check image quality.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Detect foods/ingredients and estimate portions.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nutrients from a verified food-composition database.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allergy, medical, religious, and preference constraints.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Rank suitable foods and explain the nutrient rationale.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74904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Three layers, one order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Measure layer"/>
          <p:cNvSpPr/>
          <p:nvPr/>
        </p:nvSpPr>
        <p:spPr>
          <a:xfrm>
            <a:off x="914400" y="4114799"/>
            <a:ext cx="9875520" cy="566928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 MEASURE  •  capture • quality check • food + portion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5715000" y="4727448"/>
            <a:ext cx="274320" cy="25603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Ground layer"/>
          <p:cNvSpPr/>
          <p:nvPr/>
        </p:nvSpPr>
        <p:spPr>
          <a:xfrm>
            <a:off x="914400" y="5029200"/>
            <a:ext cx="9875520" cy="566928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 GROUND  •  verified food database → nutrients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5715000" y="5641848"/>
            <a:ext cx="274320" cy="25603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onstrain layer"/>
          <p:cNvSpPr/>
          <p:nvPr/>
        </p:nvSpPr>
        <p:spPr>
          <a:xfrm>
            <a:off x="914400" y="5943600"/>
            <a:ext cx="9875520" cy="566928"/>
          </a:xfrm>
          <a:prstGeom prst="roundRect">
            <a:avLst/>
          </a:prstGeom>
          <a:solidFill>
            <a:srgbClr val="5B9BD5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 CONSTRAIN &amp; PERSONALISE  •  safety rules → ranking → explanation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"/>
          <p:cNvSpPr/>
          <p:nvPr/>
        </p:nvSpPr>
        <p:spPr>
          <a:xfrm>
            <a:off x="914400" y="6583680"/>
            <a:ext cx="987552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Hard constraints always come before soft preferences.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Build an image-based meal analysis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Estimate food identity and portion with confidence indicators.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Calculate calories and macronutrients from verified data.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Enforce allergy and medical constraints before ranking foods.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accuracy, usability, latency, and recommendation safety.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1560"/>
            <a:ext cx="10972800" cy="2286000"/>
          </a:xfrm>
        </p:spPr>
        <p:txBody>
          <a:bodyPr vert="horz" wrap="square" lIns="60000" tIns="30000" rIns="60000" bIns="30000" anchor="t">
            <a:normAutofit/>
          </a:bodyPr>
          <a:lstStyle/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Select public food-image datasets and a verified food-composition source.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Preprocess images and run food/ingredient recognition with portion estimation.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calories and nutrients from the food database.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safety rules and preference-based ranking.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on held-out images and a small user pilot; report errors, speed, and safety violations.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52044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Research phases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Phase"/>
          <p:cNvSpPr/>
          <p:nvPr/>
        </p:nvSpPr>
        <p:spPr>
          <a:xfrm>
            <a:off x="59436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P1  Data + sources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Phase"/>
          <p:cNvSpPr/>
          <p:nvPr/>
        </p:nvSpPr>
        <p:spPr>
          <a:xfrm>
            <a:off x="278892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P2  Recognize + portion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Phase"/>
          <p:cNvSpPr/>
          <p:nvPr/>
        </p:nvSpPr>
        <p:spPr>
          <a:xfrm>
            <a:off x="498348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P3  Nutrient lookup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Phase"/>
          <p:cNvSpPr/>
          <p:nvPr/>
        </p:nvSpPr>
        <p:spPr>
          <a:xfrm>
            <a:off x="717804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P4  Safety + ranking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Phase"/>
          <p:cNvSpPr/>
          <p:nvPr/>
        </p:nvSpPr>
        <p:spPr>
          <a:xfrm>
            <a:off x="9372600" y="3931920"/>
            <a:ext cx="1920240" cy="82296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P5  Evaluate + pilot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Arrow"/>
          <p:cNvSpPr/>
          <p:nvPr/>
        </p:nvSpPr>
        <p:spPr>
          <a:xfrm>
            <a:off x="254203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"/>
          <p:cNvSpPr/>
          <p:nvPr/>
        </p:nvSpPr>
        <p:spPr>
          <a:xfrm>
            <a:off x="473659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"/>
          <p:cNvSpPr/>
          <p:nvPr/>
        </p:nvSpPr>
        <p:spPr>
          <a:xfrm>
            <a:off x="693115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"/>
          <p:cNvSpPr/>
          <p:nvPr/>
        </p:nvSpPr>
        <p:spPr>
          <a:xfrm>
            <a:off x="9125712" y="4224528"/>
            <a:ext cx="228600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59436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dataset frozen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Text"/>
          <p:cNvSpPr/>
          <p:nvPr/>
        </p:nvSpPr>
        <p:spPr>
          <a:xfrm>
            <a:off x="498348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pipeline end-to-end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"/>
          <p:cNvSpPr/>
          <p:nvPr/>
        </p:nvSpPr>
        <p:spPr>
          <a:xfrm>
            <a:off x="9372600" y="4892040"/>
            <a:ext cx="192024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report + pilot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240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Smartphone with a rear RGB camera.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Laptop/PC with 8–16 GB RAM and internet access.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Optional kitchen scale or reference card for portion checks.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USB camera and controlled lighting for experiments.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Depth camera is optional; it is not required for the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493008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Hardware for the prototype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Hardware tile"/>
          <p:cNvSpPr/>
          <p:nvPr/>
        </p:nvSpPr>
        <p:spPr>
          <a:xfrm>
            <a:off x="502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PHONE
Required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Hardware tile"/>
          <p:cNvSpPr/>
          <p:nvPr/>
        </p:nvSpPr>
        <p:spPr>
          <a:xfrm>
            <a:off x="2788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LAPTOP
8–16 GB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Hardware tile"/>
          <p:cNvSpPr/>
          <p:nvPr/>
        </p:nvSpPr>
        <p:spPr>
          <a:xfrm>
            <a:off x="5074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SCALE / CARD
Required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Hardware tile"/>
          <p:cNvSpPr/>
          <p:nvPr/>
        </p:nvSpPr>
        <p:spPr>
          <a:xfrm>
            <a:off x="7360920" y="3886200"/>
            <a:ext cx="1965960" cy="10058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CAMERA + LIGHT
Experiments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Hardware tile"/>
          <p:cNvSpPr/>
          <p:nvPr/>
        </p:nvSpPr>
        <p:spPr>
          <a:xfrm>
            <a:off x="9646920" y="3886200"/>
            <a:ext cx="1965960" cy="100584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DEPTH CAMERA
Optional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"/>
          <p:cNvSpPr/>
          <p:nvPr/>
        </p:nvSpPr>
        <p:spPr>
          <a:xfrm>
            <a:off x="685800" y="5166360"/>
            <a:ext cx="457200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Blue = required for the prototype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"/>
          <p:cNvSpPr/>
          <p:nvPr/>
        </p:nvSpPr>
        <p:spPr>
          <a:xfrm>
            <a:off x="6400800" y="5166360"/>
            <a:ext cx="457200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Gray = optional / future extension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Python with PyTorch or ONNX Runtime.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OpenCV and Pillow for image processing.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Flask/FastAPI backend with a React or mobile front end.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SQLite/PostgreSQL plus verified food-composition data.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Git, pytest, and experiment logging.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proprietary API is required for the prototype.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6" name="Step 1"/>
          <p:cNvSpPr/>
          <p:nvPr/>
        </p:nvSpPr>
        <p:spPr>
          <a:xfrm>
            <a:off x="50292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 Capture meal image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tep 2"/>
          <p:cNvSpPr/>
          <p:nvPr/>
        </p:nvSpPr>
        <p:spPr>
          <a:xfrm>
            <a:off x="315468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 Check image quality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tep 3"/>
          <p:cNvSpPr/>
          <p:nvPr/>
        </p:nvSpPr>
        <p:spPr>
          <a:xfrm>
            <a:off x="580644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 Detect food + estimate portion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tep 4"/>
          <p:cNvSpPr/>
          <p:nvPr/>
        </p:nvSpPr>
        <p:spPr>
          <a:xfrm>
            <a:off x="845820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 Look up verified nutrients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Arrow"/>
          <p:cNvSpPr/>
          <p:nvPr/>
        </p:nvSpPr>
        <p:spPr>
          <a:xfrm>
            <a:off x="294436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"/>
          <p:cNvSpPr/>
          <p:nvPr/>
        </p:nvSpPr>
        <p:spPr>
          <a:xfrm>
            <a:off x="559612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"/>
          <p:cNvSpPr/>
          <p:nvPr/>
        </p:nvSpPr>
        <p:spPr>
          <a:xfrm>
            <a:off x="824788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 down"/>
          <p:cNvSpPr/>
          <p:nvPr/>
        </p:nvSpPr>
        <p:spPr>
          <a:xfrm>
            <a:off x="9555480" y="2212848"/>
            <a:ext cx="228600" cy="6858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 5"/>
          <p:cNvSpPr/>
          <p:nvPr/>
        </p:nvSpPr>
        <p:spPr>
          <a:xfrm>
            <a:off x="845820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  Apply safety rules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tep 6"/>
          <p:cNvSpPr/>
          <p:nvPr/>
        </p:nvSpPr>
        <p:spPr>
          <a:xfrm>
            <a:off x="580644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  Rank meals + explain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tep 7"/>
          <p:cNvSpPr/>
          <p:nvPr/>
        </p:nvSpPr>
        <p:spPr>
          <a:xfrm>
            <a:off x="315468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  Show result + correction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Arrow left"/>
          <p:cNvSpPr/>
          <p:nvPr/>
        </p:nvSpPr>
        <p:spPr>
          <a:xfrm>
            <a:off x="821131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rrow left"/>
          <p:cNvSpPr/>
          <p:nvPr/>
        </p:nvSpPr>
        <p:spPr>
          <a:xfrm>
            <a:off x="555955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Flow note"/>
          <p:cNvSpPr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500" i="1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User correction updates the estimate and recommendation.</a:t>
            </a:r>
            <a:endParaRPr lang="en-IN" sz="15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rrection loop"/>
          <p:cNvSpPr/>
          <p:nvPr/>
        </p:nvSpPr>
        <p:spPr>
          <a:xfrm>
            <a:off x="3840480" y="4224528"/>
            <a:ext cx="4389120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"/>
          <p:cNvSpPr/>
          <p:nvPr/>
        </p:nvSpPr>
        <p:spPr>
          <a:xfrm>
            <a:off x="4800600" y="4498848"/>
            <a:ext cx="256032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correction loop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057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Image &amp; Food Analyzer — detect foods and ingredients.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&amp; Nutrient Engine — estimate grams and nutrients.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Safety &amp; Personalization — filter and rank suitable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User Interface &amp; Feedback — explain, confirm, and correct.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246120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How the modules work together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Module band"/>
          <p:cNvSpPr/>
          <p:nvPr/>
        </p:nvSpPr>
        <p:spPr>
          <a:xfrm>
            <a:off x="1143000" y="3639312"/>
            <a:ext cx="9144000" cy="438912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 Image &amp; Food Analyzer  →  foods + grams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5577840" y="4087368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Module band"/>
          <p:cNvSpPr/>
          <p:nvPr/>
        </p:nvSpPr>
        <p:spPr>
          <a:xfrm>
            <a:off x="1143000" y="4215384"/>
            <a:ext cx="9144000" cy="438912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 Portion &amp; Nutrient Engine  →  nutrients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Arrow"/>
          <p:cNvSpPr/>
          <p:nvPr/>
        </p:nvSpPr>
        <p:spPr>
          <a:xfrm>
            <a:off x="5577840" y="4663440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Module band"/>
          <p:cNvSpPr/>
          <p:nvPr/>
        </p:nvSpPr>
        <p:spPr>
          <a:xfrm>
            <a:off x="1143000" y="4791456"/>
            <a:ext cx="9144000" cy="438912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 Safety &amp; Personalization  →  ranked safe meals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Arrow"/>
          <p:cNvSpPr/>
          <p:nvPr/>
        </p:nvSpPr>
        <p:spPr>
          <a:xfrm>
            <a:off x="5577840" y="5239512"/>
            <a:ext cx="274320" cy="164592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Module band"/>
          <p:cNvSpPr/>
          <p:nvPr/>
        </p:nvSpPr>
        <p:spPr>
          <a:xfrm>
            <a:off x="1143000" y="5367528"/>
            <a:ext cx="9144000" cy="438912"/>
          </a:xfrm>
          <a:prstGeom prst="round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 User Interface &amp; Feedback  →  corrections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"/>
          <p:cNvSpPr/>
          <p:nvPr/>
        </p:nvSpPr>
        <p:spPr>
          <a:xfrm>
            <a:off x="1143000" y="6053328"/>
            <a:ext cx="9144000" cy="25603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User feedback improves the next estimate.</a:t>
            </a:r>
            <a:endParaRPr lang="en-US" sz="125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Confidence-aware image-to-nutrient pipeline.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Retrieval-grounded nutrients instead of LLM-only values.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Hard safety constraints separated from soft preferences.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Human correction and explanation as first-class features.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Designed for ordinary smartphone images and low-cost deployment.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Dataset: public food images plus a small local test set.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Tasks: recognition, portion estimation, and nutrient error.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Baselines: direct VLM, classifier, and the proposed modular pipeline.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Pilot: target 20 users; record corrections and acceptance.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Metrics: F1, MAE/MAPE, latency, safety violations, and usefulness.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Analyze failures by cuisine, lighting, and meal complexity.</a:t>
            </a:r>
            <a:endParaRPr lang="en-IN"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3120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119303" cy="251809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Current status: evaluation plan; no project test results are claimed yet.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Literature context: calorie error ranges from 0.10% to 38.3%; one VLM study reports 45.6% sMAPE.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Compare recognition, portion, calorie, and nutrient errors separately.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Success means transparent estimates, correctable outputs, and no hard-constraint violations.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Discussion will cover hidden oil, mixed dishes, database coverage, and confidence.</a:t>
            </a:r>
            <a:endParaRPr lang="en-IN" sz="2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75887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Literature-reported error signals — not project results</a:t>
            </a:r>
            <a:endParaRPr lang="en-US" sz="145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Grid line"/>
          <p:cNvSpPr/>
          <p:nvPr/>
        </p:nvSpPr>
        <p:spPr>
          <a:xfrm>
            <a:off x="1828800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1645920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Grid line"/>
          <p:cNvSpPr/>
          <p:nvPr/>
        </p:nvSpPr>
        <p:spPr>
          <a:xfrm>
            <a:off x="3054096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2871215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Grid line"/>
          <p:cNvSpPr/>
          <p:nvPr/>
        </p:nvSpPr>
        <p:spPr>
          <a:xfrm>
            <a:off x="4279392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4096511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Grid line"/>
          <p:cNvSpPr/>
          <p:nvPr/>
        </p:nvSpPr>
        <p:spPr>
          <a:xfrm>
            <a:off x="5504688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5321807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30%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5" name="Grid line"/>
          <p:cNvSpPr/>
          <p:nvPr/>
        </p:nvSpPr>
        <p:spPr>
          <a:xfrm>
            <a:off x="6729984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6547104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40%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Grid line"/>
          <p:cNvSpPr/>
          <p:nvPr/>
        </p:nvSpPr>
        <p:spPr>
          <a:xfrm>
            <a:off x="7955279" y="4160519"/>
            <a:ext cx="7315" cy="1828800"/>
          </a:xfrm>
          <a:prstGeom prst="rect">
            <a:avLst/>
          </a:prstGeom>
          <a:solidFill>
            <a:srgbClr val="D9E2F3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"/>
          <p:cNvSpPr/>
          <p:nvPr/>
        </p:nvSpPr>
        <p:spPr>
          <a:xfrm>
            <a:off x="7772400" y="6016752"/>
            <a:ext cx="365760" cy="20116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50%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Axis"/>
          <p:cNvSpPr/>
          <p:nvPr/>
        </p:nvSpPr>
        <p:spPr>
          <a:xfrm>
            <a:off x="1828800" y="5989320"/>
            <a:ext cx="6126480" cy="13716"/>
          </a:xfrm>
          <a:prstGeom prst="rect">
            <a:avLst/>
          </a:prstGeom>
          <a:solidFill>
            <a:srgbClr val="2F5597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502920" y="4142232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Zhao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Bar"/>
          <p:cNvSpPr/>
          <p:nvPr/>
        </p:nvSpPr>
        <p:spPr>
          <a:xfrm>
            <a:off x="1828800" y="4160519"/>
            <a:ext cx="1921264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3823216" y="4142232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15.68%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"/>
          <p:cNvSpPr/>
          <p:nvPr/>
        </p:nvSpPr>
        <p:spPr>
          <a:xfrm>
            <a:off x="502920" y="4471416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Moyen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Bar"/>
          <p:cNvSpPr/>
          <p:nvPr/>
        </p:nvSpPr>
        <p:spPr>
          <a:xfrm>
            <a:off x="1828800" y="4489704"/>
            <a:ext cx="3357311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"/>
          <p:cNvSpPr/>
          <p:nvPr/>
        </p:nvSpPr>
        <p:spPr>
          <a:xfrm>
            <a:off x="5259263" y="4471416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27.4%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6" name="Text"/>
          <p:cNvSpPr/>
          <p:nvPr/>
        </p:nvSpPr>
        <p:spPr>
          <a:xfrm>
            <a:off x="502920" y="4800600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Papathanail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7" name="Bar"/>
          <p:cNvSpPr/>
          <p:nvPr/>
        </p:nvSpPr>
        <p:spPr>
          <a:xfrm>
            <a:off x="1828800" y="4818887"/>
            <a:ext cx="3357311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"/>
          <p:cNvSpPr/>
          <p:nvPr/>
        </p:nvSpPr>
        <p:spPr>
          <a:xfrm>
            <a:off x="5259263" y="4800600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27.4%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9" name="Text"/>
          <p:cNvSpPr/>
          <p:nvPr/>
        </p:nvSpPr>
        <p:spPr>
          <a:xfrm>
            <a:off x="502920" y="5129784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Shonkoff max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Bar"/>
          <p:cNvSpPr/>
          <p:nvPr/>
        </p:nvSpPr>
        <p:spPr>
          <a:xfrm>
            <a:off x="1828800" y="5148072"/>
            <a:ext cx="4692883" cy="201168"/>
          </a:xfrm>
          <a:prstGeom prst="rect">
            <a:avLst/>
          </a:prstGeom>
          <a:solidFill>
            <a:srgbClr val="4F81B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"/>
          <p:cNvSpPr/>
          <p:nvPr/>
        </p:nvSpPr>
        <p:spPr>
          <a:xfrm>
            <a:off x="6594835" y="5129784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81BD"/>
                </a:solidFill>
                <a:latin typeface="Calibri"/>
                <a:ea typeface="Calibri"/>
                <a:cs typeface="Calibri"/>
              </a:rPr>
              <a:t>38.3%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Text"/>
          <p:cNvSpPr/>
          <p:nvPr/>
        </p:nvSpPr>
        <p:spPr>
          <a:xfrm>
            <a:off x="502920" y="5458968"/>
            <a:ext cx="123444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Vedovelli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3" name="Bar"/>
          <p:cNvSpPr/>
          <p:nvPr/>
        </p:nvSpPr>
        <p:spPr>
          <a:xfrm>
            <a:off x="1828800" y="5477255"/>
            <a:ext cx="5587349" cy="201168"/>
          </a:xfrm>
          <a:prstGeom prst="rect">
            <a:avLst/>
          </a:prstGeom>
          <a:solidFill>
            <a:srgbClr val="C0504D"/>
          </a:solidFill>
          <a:ln w="127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"/>
          <p:cNvSpPr/>
          <p:nvPr/>
        </p:nvSpPr>
        <p:spPr>
          <a:xfrm>
            <a:off x="7489301" y="5458968"/>
            <a:ext cx="685800" cy="2286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504D"/>
                </a:solidFill>
                <a:latin typeface="Calibri"/>
                <a:ea typeface="Calibri"/>
                <a:cs typeface="Calibri"/>
              </a:rPr>
              <a:t>45.6%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5" name="Chart note"/>
          <p:cNvSpPr/>
          <p:nvPr/>
        </p:nvSpPr>
        <p:spPr>
          <a:xfrm>
            <a:off x="8366760" y="4160519"/>
            <a:ext cx="2331720" cy="1417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Study-specific values; not directly comparable. Recognition accuracy is not nutrient accuracy.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746353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51560"/>
            <a:ext cx="10034105" cy="22860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A layered pipeline is more defensible than a single AI model.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Verified nutrients and safety rules must precede personalization.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User correction is essential for uncertain or high-risk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Future work: larger datasets, depth sensing, multilingual cuisine support, and clinical validation.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The prototype is an educational support tool, not a diagnosis system.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  <p:sp>
        <p:nvSpPr>
          <p:cNvPr id="6" name="Text"/>
          <p:cNvSpPr/>
          <p:nvPr/>
        </p:nvSpPr>
        <p:spPr>
          <a:xfrm>
            <a:off x="685800" y="3630168"/>
            <a:ext cx="10789920" cy="27432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From prototype to validated support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Now"/>
          <p:cNvSpPr/>
          <p:nvPr/>
        </p:nvSpPr>
        <p:spPr>
          <a:xfrm>
            <a:off x="731520" y="4069080"/>
            <a:ext cx="4800600" cy="132588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NOW
Image analysis • verified nutrients
Safety rules • user correction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Arrow"/>
          <p:cNvSpPr/>
          <p:nvPr/>
        </p:nvSpPr>
        <p:spPr>
          <a:xfrm>
            <a:off x="5669280" y="4599432"/>
            <a:ext cx="411480" cy="27432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Next"/>
          <p:cNvSpPr/>
          <p:nvPr/>
        </p:nvSpPr>
        <p:spPr>
          <a:xfrm>
            <a:off x="6400800" y="4069080"/>
            <a:ext cx="480060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A5A5A5"/>
            </a:solidFill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NEXT
Larger datasets • depth/portion
More cuisines • clinical validation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"/>
          <p:cNvSpPr/>
          <p:nvPr/>
        </p:nvSpPr>
        <p:spPr>
          <a:xfrm>
            <a:off x="1097280" y="5852160"/>
            <a:ext cx="9875520" cy="32004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50000" tIns="25000" rIns="50000" bIns="2500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597"/>
                </a:solidFill>
                <a:latin typeface="Calibri"/>
                <a:ea typeface="Calibri"/>
                <a:cs typeface="Calibri"/>
              </a:rPr>
              <a:t>Educational support tool  →  evidence-based improvement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25880"/>
            <a:ext cx="5623560" cy="4983480"/>
          </a:xfrm>
        </p:spPr>
        <p:txBody>
          <a:bodyPr vert="horz" wrap="square" lIns="60000" tIns="30000" rIns="60000" bIns="30000" anchor="t">
            <a:normAutofit fontScale="92500" lnSpcReduction="10000"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Dalakleidi et al. (2022). Applying Image-Based Food-Recognition Systems on Dietary Assessment: A Systematic Review. Advances in Nutrition, 13(6), 2590–2619. DOI: 10.1093/advances/nmac078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Stefanidis et al. (2022). PROTEIN AI Advisor: A Knowledge-Based Recommendation Framework Using Expert-Validated Meals for Healthy Diets. Nutrients, 14(20), 4435. DOI: 10.3390/nu14204435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Moyen et al. (2022). Relative Validation of an Artificial Intelligence–Enhanced, Image-Assisted Mobile App for Dietary Assessment in Adults: Randomized Crossover Study. Journal of Medical Internet Research, 24(11), e40449. DOI: 10.2196/40449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Shonkoff et al. (2023). AI-Based Digital Image Dietary Assessment Methods Compared to Humans and Ground Truth: A Systematic Review. Annals of Medicine, 55(2), 2273497. DOI: 10.1080/07853890.2023.2273497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Wu et al. (2024). OVFoodSeg: Elevating Open-Vocabulary Food Image Segmentation via Image-Informed Textual Representation. CVPR, 4144–4153. DOI: 10.1109/CVPR52733.2024.00397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Papathanail et al. (2023). The Nutritional Content of Meal Images in Free-Living Conditions—Automatic Assessment with goFOOD™. Nutrients, 15(17), 3835. DOI: 10.3390/nu15173835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Konstantakopoulos et al. (2023). An Automated Image-Based Dietary Assessment System for Mediterranean Foods. IEEE Open Journal of Engineering in Medicine and Biology, 4, 45–54. DOI: 10.1109/OJEMB.2023.3266135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 Amiri, Li and Hasan (2023). Personalized Flexible Meal Planning for Individuals With Diet-Related Health Concerns: System Design and Feasibility Validation Study. JMIR Formative Research, 7, e46434. DOI: 10.2196/46434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 Romero-Tapiador et al. (2025). Are Vision-Language Models Ready for Dietary Assessment? Exploring the Next Frontier in AI-Powered Food Image Recognition. CVPR Workshops, 430–439. DOI: 10.1109/CVPRW67362.2025.00047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 Zhao et al. (2024). Visual Nutrition Analysis: Leveraging Segmentation and Regression for Food Nutrient Estimation. Frontiers in Nutrition, 11, 1469878. DOI: 10.3389/fnut.2024.1469878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  <p:sp>
        <p:nvSpPr>
          <p:cNvPr id="20" name="References Right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/>
        </p:nvSpPr>
        <p:spPr>
          <a:xfrm>
            <a:off x="6172200" y="1325880"/>
            <a:ext cx="5623560" cy="4983480"/>
          </a:xfrm>
        </p:spPr>
        <p:txBody>
          <a:bodyPr vert="horz" wrap="square" lIns="60000" tIns="30000" rIns="60000" bIns="30000" anchor="t">
            <a:normAutofit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11. Papastratis et al. (2024). AI Nutrition Recommendation Using a Deep Generative Model and ChatGPT. Scientific Reports, 14, 14620. DOI: 10.1038/s41598-024-65438-x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 Yang et al. (2024). ChatDiet: Empowering Personalized Nutrition-Oriented Food Recommender Chatbots Through an LLM-Augmented Framework. Smart Health, 32, 100465. DOI: 10.1016/j.smhl.2024.100465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13. Amiri, Rad and Li (2024). Delighting Palates with AI: Reinforcement Learning’s Triumph in Crafting Personalized Meal Plans with High User Acceptance. Nutrients, 16(3), 346. DOI: 10.3390/nu16030346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14. Yan et al. (2025). DietAI24 as a Framework for Comprehensive Nutrition Estimation Using Multimodal Large Language Models. Communications Medicine, 5, 458. DOI: 10.1038/s43856-025-01159-0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15. O’Hara et al. (2025). An Evaluation of ChatGPT for Nutrient Content Estimation from Meal Photographs. Nutrients, 17(4), 607. DOI: 10.3390/nu17040607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16. Khlaisamniang et al. (2025). Decomposing Food Images for Better Nutrition Analysis: A Nutritionist-Inspired Two-Step Multimodal LLM Approach. CVPR Workshops, 482–491. DOI: 10.1109/CVPRW67362.2025.00053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17. Zhang et al. (2025). MOPI-HFRS: A Multi-objective Personalized Health-aware Food Recommendation System with LLM-enhanced Interpretation. ACM SIGKDD, 2860–2871. DOI: 10.1145/3690624.3709382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18. Wang et al. (2026). Development of an Intelligent Food Nutrition Recognition and Nutrient Intake Assessment System in Hospital Settings. Frontiers in Nutrition, 13, 1637034. DOI: 10.3389/fnut.2026.1637034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19. Vedovelli et al. (2026). Model Architecture Dominates Nutritional Estimation Accuracy in Vision-Language Systems. Scientific Reports, 16, 29227. DOI: 10.1038/s41598-026-58755-w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20. Serra et al. (2026). Limited Validity of an AI-Powered App for Dietary Assessment in Females with Obesity. npj Digital Medicine, 9, 357. DOI: 10.1038/s41746-026-02536-2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5156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Prototype pseudocode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image = load_meal_image()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foods = detect_food_and_portions(image)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nutrients = lookup_verified_database(foods)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safe = apply_allergy_and_medical_rules(nutrients,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plan = rank_by_preferences(safe,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return explain_with_confidence(plan)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if confidence &lt; threshold: ask_user_to_confirm_or_correct()</a:t>
            </a:r>
            <a:endParaRPr lang="en-IN" sz="17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36372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Paper title: AI-Based Smart Meal Analyzer and Personalized Nutrition Recommendation System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Course: E1CSA313/E1ITA306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 [Name / 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Mentor: [Name]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Submission package: abstract, literature review, methodology, results, conclusion, and references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attach the final similarity report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4420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final similarity check pending.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20 verified papers as the reference set.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Cite authors, year, venue, and DOI for every borrowed idea.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the university-approved similarity checker.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Attach the report and resolve flagged text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 not submit copied wording or unreferenced code.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3193</Words>
  <Application>Microsoft Macintosh PowerPoint</Application>
  <PresentationFormat>Widescreen</PresentationFormat>
  <Paragraphs>372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Review of literature</vt:lpstr>
      <vt:lpstr>Review of literature</vt:lpstr>
      <vt:lpstr>Review of literature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HARSHA VARDHAN BK</cp:lastModifiedBy>
  <cp:revision>21</cp:revision>
  <cp:lastPrinted>2020-11-26T03:04:06Z</cp:lastPrinted>
  <dcterms:created xsi:type="dcterms:W3CDTF">2008-12-05T06:42:08Z</dcterms:created>
  <dcterms:modified xsi:type="dcterms:W3CDTF">2026-09-26T08:42:21Z</dcterms:modified>
</cp:coreProperties>
</file>