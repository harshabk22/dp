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notesMasters/notesMaster1.xml" ContentType="application/vnd.openxmlformats-officedocument.presentationml.notesMaster+xml"/>
  <ns0:Override PartName="/ppt/handoutMasters/handoutMaster1.xml" ContentType="application/vnd.openxmlformats-officedocument.presentationml.handoutMaster+xml"/>
  <ns0:Override PartName="/ppt/commentAuthors.xml" ContentType="application/vnd.openxmlformats-officedocument.presentationml.commentAuthors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notesSlides/notesSlide1.xml" ContentType="application/vnd.openxmlformats-officedocument.presentationml.notesSlide+xml"/>
  <ns0:Override PartName="/ppt/theme/themeOverride1.xml" ContentType="application/vnd.openxmlformats-officedocument.themeOverride+xml"/>
  <ns0:Override PartName="/ppt/changesInfos/changesInfo1.xml" ContentType="application/vnd.ms-powerpoint.changesinfo+xml"/>
  <ns0:Override PartName="/ppt/revisionInfo.xml" ContentType="application/vnd.ms-powerpoint.revisioninfo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938" r:id="rId1"/>
  </p:sldMasterIdLst>
  <p:notesMasterIdLst>
    <p:notesMasterId r:id="rId24"/>
  </p:notesMasterIdLst>
  <p:handoutMasterIdLst>
    <p:handoutMasterId r:id="rId25"/>
  </p:handoutMasterIdLst>
  <p:sldIdLst>
    <p:sldId id="507" r:id="rId2"/>
    <p:sldId id="1027" r:id="rId3"/>
    <p:sldId id="1012" r:id="rId4"/>
    <p:sldId id="1013" r:id="rId5"/>
    <p:sldId id="1046" r:id="rId33"/>
    <p:sldId id="1047" r:id="rId34"/>
    <p:sldId id="1048" r:id="rId35"/>
    <p:sldId id="1049" r:id="rId36"/>
    <p:sldId id="1014" r:id="rId6"/>
    <p:sldId id="1015" r:id="rId7"/>
    <p:sldId id="1034" r:id="rId8"/>
    <p:sldId id="1036" r:id="rId9"/>
    <p:sldId id="1037" r:id="rId10"/>
    <p:sldId id="1011" r:id="rId11"/>
    <p:sldId id="1026" r:id="rId12"/>
    <p:sldId id="1033" r:id="rId13"/>
    <p:sldId id="1038" r:id="rId14"/>
    <p:sldId id="1039" r:id="rId15"/>
    <p:sldId id="1040" r:id="rId16"/>
    <p:sldId id="1044" r:id="rId17"/>
    <p:sldId id="1045" r:id="rId18"/>
    <p:sldId id="1041" r:id="rId19"/>
    <p:sldId id="1025" r:id="rId20"/>
    <p:sldId id="1042" r:id="rId21"/>
    <p:sldId id="1043" r:id="rId22"/>
    <p:sldId id="1035" r:id="rId2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ns3:sldGuideLst>
        <ns3:guide id="1" orient="horz" pos="2160" userDrawn="1">
          <ns3:clr>
            <a:srgbClr val="A4A3A4"/>
          </ns3:clr>
        </ns3:guide>
        <ns3:guide id="2" pos="3840" userDrawn="1">
          <ns3:clr>
            <a:srgbClr val="A4A3A4"/>
          </ns3:clr>
        </ns3:guide>
      </ns3:sldGuideLst>
    </p:ext>
    <p:ext uri="{2D200454-40CA-4A62-9FC3-DE9A4176ACB9}">
      <ns3:notesGuideLst>
        <ns3:guide id="1" orient="horz" pos="2880">
          <ns3:clr>
            <a:srgbClr val="A4A3A4"/>
          </ns3:clr>
        </ns3:guide>
        <ns3:guide id="2" pos="2160">
          <ns3:clr>
            <a:srgbClr val="A4A3A4"/>
          </ns3:clr>
        </ns3:guide>
      </ns3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9CA663-1309-4ECF-9CD4-C8F48ECFF935}" v="48" dt="2026-09-09T09:42:55.997"/>
    <p1510:client id="{575C8504-258C-4612-97B9-120B5DE7B0D2}" v="3" dt="2026-09-09T10:42:31.757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commentAuthors" Target="commentAuthor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handoutMaster" Target="handoutMasters/handout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notesMaster" Target="notesMasters/notesMaster1.xml" /><Relationship Id="rId32" Type="http://schemas.microsoft.com/office/2015/10/relationships/revisionInfo" Target="revisionInfo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microsoft.com/office/2016/11/relationships/changesInfo" Target="changesInfos/changesInfo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presProps" Target="presProps.xml" /><Relationship Id="rId30" Type="http://schemas.openxmlformats.org/officeDocument/2006/relationships/tableStyles" Target="tableStyles.xml" /><Relationship Id="rId33" Type="http://schemas.openxmlformats.org/officeDocument/2006/relationships/slide" Target="slides/slide23.xml" /><Relationship Id="rId34" Type="http://schemas.openxmlformats.org/officeDocument/2006/relationships/slide" Target="slides/slide24.xml" /><Relationship Id="rId35" Type="http://schemas.openxmlformats.org/officeDocument/2006/relationships/slide" Target="slides/slide25.xml" /><Relationship Id="rId36" Type="http://schemas.openxmlformats.org/officeDocument/2006/relationships/slide" Target="slides/slide26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Selvam" userId="d6d9795e-cb7f-4ca4-909c-a1909c828893" providerId="ADAL" clId="{77D21AA8-553F-4AB2-8C7F-3DF8ADADA90D}"/>
    <pc:docChg chg="undo custSel addSld delSld modSld">
      <pc:chgData name="M Selvam" userId="d6d9795e-cb7f-4ca4-909c-a1909c828893" providerId="ADAL" clId="{77D21AA8-553F-4AB2-8C7F-3DF8ADADA90D}" dt="2026-09-09T10:44:54.063" v="359" actId="47"/>
      <pc:docMkLst>
        <pc:docMk/>
      </pc:docMkLst>
      <pc:sldChg chg="addSp delSp modSp mod">
        <pc:chgData name="M Selvam" userId="d6d9795e-cb7f-4ca4-909c-a1909c828893" providerId="ADAL" clId="{77D21AA8-553F-4AB2-8C7F-3DF8ADADA90D}" dt="2026-09-09T09:43:21.943" v="173" actId="14100"/>
        <pc:sldMkLst>
          <pc:docMk/>
          <pc:sldMk cId="0" sldId="507"/>
        </pc:sldMkLst>
        <pc:spChg chg="mod">
          <ac:chgData name="M Selvam" userId="d6d9795e-cb7f-4ca4-909c-a1909c828893" providerId="ADAL" clId="{77D21AA8-553F-4AB2-8C7F-3DF8ADADA90D}" dt="2026-09-09T09:34:27.100" v="39" actId="20577"/>
          <ac:spMkLst>
            <pc:docMk/>
            <pc:sldMk cId="0" sldId="507"/>
            <ac:spMk id="6" creationId="{90112947-B9C2-2E92-2ED4-7AE86C45CC4F}"/>
          </ac:spMkLst>
        </pc:spChg>
        <pc:picChg chg="del">
          <ac:chgData name="M Selvam" userId="d6d9795e-cb7f-4ca4-909c-a1909c828893" providerId="ADAL" clId="{77D21AA8-553F-4AB2-8C7F-3DF8ADADA90D}" dt="2026-09-09T09:33:53.660" v="3" actId="478"/>
          <ac:picMkLst>
            <pc:docMk/>
            <pc:sldMk cId="0" sldId="507"/>
            <ac:picMk id="3" creationId="{D48BC6A5-F5D8-82C0-F28F-C70BA469D2CB}"/>
          </ac:picMkLst>
        </pc:picChg>
        <pc:picChg chg="add mod">
          <ac:chgData name="M Selvam" userId="d6d9795e-cb7f-4ca4-909c-a1909c828893" providerId="ADAL" clId="{77D21AA8-553F-4AB2-8C7F-3DF8ADADA90D}" dt="2026-09-09T09:43:21.943" v="173" actId="14100"/>
          <ac:picMkLst>
            <pc:docMk/>
            <pc:sldMk cId="0" sldId="507"/>
            <ac:picMk id="4" creationId="{9D471D20-F6B2-348C-6B60-AFE0319ECD25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39:26.485" v="105" actId="1076"/>
        <pc:sldMkLst>
          <pc:docMk/>
          <pc:sldMk cId="2311492942" sldId="1011"/>
        </pc:sldMkLst>
        <pc:picChg chg="del">
          <ac:chgData name="M Selvam" userId="d6d9795e-cb7f-4ca4-909c-a1909c828893" providerId="ADAL" clId="{77D21AA8-553F-4AB2-8C7F-3DF8ADADA90D}" dt="2026-09-09T09:39:16.829" v="101" actId="478"/>
          <ac:picMkLst>
            <pc:docMk/>
            <pc:sldMk cId="2311492942" sldId="1011"/>
            <ac:picMk id="4" creationId="{A4B4A364-138F-E303-4886-AF5B2A6A67C2}"/>
          </ac:picMkLst>
        </pc:picChg>
        <pc:picChg chg="add mod">
          <ac:chgData name="M Selvam" userId="d6d9795e-cb7f-4ca4-909c-a1909c828893" providerId="ADAL" clId="{77D21AA8-553F-4AB2-8C7F-3DF8ADADA90D}" dt="2026-09-09T09:39:26.485" v="105" actId="1076"/>
          <ac:picMkLst>
            <pc:docMk/>
            <pc:sldMk cId="2311492942" sldId="1011"/>
            <ac:picMk id="5" creationId="{E69172F0-DC24-A9DB-0F68-54E3881FD548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36.767" v="177" actId="14100"/>
        <pc:sldMkLst>
          <pc:docMk/>
          <pc:sldMk cId="3089745817" sldId="1012"/>
        </pc:sldMkLst>
        <pc:spChg chg="add del">
          <ac:chgData name="M Selvam" userId="d6d9795e-cb7f-4ca4-909c-a1909c828893" providerId="ADAL" clId="{77D21AA8-553F-4AB2-8C7F-3DF8ADADA90D}" dt="2026-09-09T09:35:25.635" v="51" actId="34307"/>
          <ac:spMkLst>
            <pc:docMk/>
            <pc:sldMk cId="3089745817" sldId="1012"/>
            <ac:spMk id="7" creationId="{3280A4A6-FE4E-5BD7-0D80-570328273E09}"/>
          </ac:spMkLst>
        </pc:spChg>
        <pc:picChg chg="add mod">
          <ac:chgData name="M Selvam" userId="d6d9795e-cb7f-4ca4-909c-a1909c828893" providerId="ADAL" clId="{77D21AA8-553F-4AB2-8C7F-3DF8ADADA90D}" dt="2026-09-09T09:43:36.767" v="177" actId="14100"/>
          <ac:picMkLst>
            <pc:docMk/>
            <pc:sldMk cId="3089745817" sldId="1012"/>
            <ac:picMk id="2" creationId="{D046E4DE-BCE0-C9B2-CDC2-1E28119D86A3}"/>
          </ac:picMkLst>
        </pc:picChg>
        <pc:picChg chg="del">
          <ac:chgData name="M Selvam" userId="d6d9795e-cb7f-4ca4-909c-a1909c828893" providerId="ADAL" clId="{77D21AA8-553F-4AB2-8C7F-3DF8ADADA90D}" dt="2026-09-09T09:35:05.819" v="47" actId="478"/>
          <ac:picMkLst>
            <pc:docMk/>
            <pc:sldMk cId="3089745817" sldId="1012"/>
            <ac:picMk id="4" creationId="{8F4E0918-9E46-2259-4003-1C1F5C38DCA1}"/>
          </ac:picMkLst>
        </pc:picChg>
        <pc:picChg chg="add del mod ord">
          <ac:chgData name="M Selvam" userId="d6d9795e-cb7f-4ca4-909c-a1909c828893" providerId="ADAL" clId="{77D21AA8-553F-4AB2-8C7F-3DF8ADADA90D}" dt="2026-09-09T09:35:25.635" v="51" actId="34307"/>
          <ac:picMkLst>
            <pc:docMk/>
            <pc:sldMk cId="3089745817" sldId="1012"/>
            <ac:picMk id="5" creationId="{E81362B5-B35C-A88A-ADEF-51E0186485C5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41.958" v="179" actId="14100"/>
        <pc:sldMkLst>
          <pc:docMk/>
          <pc:sldMk cId="95257650" sldId="1013"/>
        </pc:sldMkLst>
        <pc:picChg chg="del">
          <ac:chgData name="M Selvam" userId="d6d9795e-cb7f-4ca4-909c-a1909c828893" providerId="ADAL" clId="{77D21AA8-553F-4AB2-8C7F-3DF8ADADA90D}" dt="2026-09-09T09:35:33.573" v="52" actId="478"/>
          <ac:picMkLst>
            <pc:docMk/>
            <pc:sldMk cId="95257650" sldId="1013"/>
            <ac:picMk id="4" creationId="{2DC88E58-E75E-48AB-59FF-CADAC759042E}"/>
          </ac:picMkLst>
        </pc:picChg>
        <pc:picChg chg="add mod">
          <ac:chgData name="M Selvam" userId="d6d9795e-cb7f-4ca4-909c-a1909c828893" providerId="ADAL" clId="{77D21AA8-553F-4AB2-8C7F-3DF8ADADA90D}" dt="2026-09-09T09:43:41.958" v="179" actId="14100"/>
          <ac:picMkLst>
            <pc:docMk/>
            <pc:sldMk cId="95257650" sldId="1013"/>
            <ac:picMk id="5" creationId="{271B53F3-540A-8282-CDE9-91C7F1D75BFF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46.133" v="180" actId="14100"/>
        <pc:sldMkLst>
          <pc:docMk/>
          <pc:sldMk cId="2694801863" sldId="1014"/>
        </pc:sldMkLst>
        <pc:spChg chg="mod">
          <ac:chgData name="M Selvam" userId="d6d9795e-cb7f-4ca4-909c-a1909c828893" providerId="ADAL" clId="{77D21AA8-553F-4AB2-8C7F-3DF8ADADA90D}" dt="2026-09-09T09:36:44.870" v="68" actId="14100"/>
          <ac:spMkLst>
            <pc:docMk/>
            <pc:sldMk cId="2694801863" sldId="1014"/>
            <ac:spMk id="3" creationId="{39A6E23D-A5D8-BE38-914C-4697198F055E}"/>
          </ac:spMkLst>
        </pc:spChg>
        <pc:picChg chg="del mod">
          <ac:chgData name="M Selvam" userId="d6d9795e-cb7f-4ca4-909c-a1909c828893" providerId="ADAL" clId="{77D21AA8-553F-4AB2-8C7F-3DF8ADADA90D}" dt="2026-09-09T09:36:34.406" v="65" actId="478"/>
          <ac:picMkLst>
            <pc:docMk/>
            <pc:sldMk cId="2694801863" sldId="1014"/>
            <ac:picMk id="4" creationId="{3424A7D1-392B-981E-7690-910B416284B1}"/>
          </ac:picMkLst>
        </pc:picChg>
        <pc:picChg chg="add mod">
          <ac:chgData name="M Selvam" userId="d6d9795e-cb7f-4ca4-909c-a1909c828893" providerId="ADAL" clId="{77D21AA8-553F-4AB2-8C7F-3DF8ADADA90D}" dt="2026-09-09T09:43:46.133" v="180" actId="14100"/>
          <ac:picMkLst>
            <pc:docMk/>
            <pc:sldMk cId="2694801863" sldId="1014"/>
            <ac:picMk id="5" creationId="{47D2E993-E474-0C27-DF8A-10B6A433EC16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54.806" v="182" actId="14100"/>
        <pc:sldMkLst>
          <pc:docMk/>
          <pc:sldMk cId="695185364" sldId="1015"/>
        </pc:sldMkLst>
        <pc:spChg chg="mod">
          <ac:chgData name="M Selvam" userId="d6d9795e-cb7f-4ca4-909c-a1909c828893" providerId="ADAL" clId="{77D21AA8-553F-4AB2-8C7F-3DF8ADADA90D}" dt="2026-09-09T09:37:18.323" v="74" actId="14100"/>
          <ac:spMkLst>
            <pc:docMk/>
            <pc:sldMk cId="695185364" sldId="1015"/>
            <ac:spMk id="3" creationId="{BBD3710E-1FD6-A145-E602-76470D00842A}"/>
          </ac:spMkLst>
        </pc:spChg>
        <pc:picChg chg="del">
          <ac:chgData name="M Selvam" userId="d6d9795e-cb7f-4ca4-909c-a1909c828893" providerId="ADAL" clId="{77D21AA8-553F-4AB2-8C7F-3DF8ADADA90D}" dt="2026-09-09T09:37:08.910" v="72" actId="478"/>
          <ac:picMkLst>
            <pc:docMk/>
            <pc:sldMk cId="695185364" sldId="1015"/>
            <ac:picMk id="4" creationId="{1660B1F0-D8A2-D976-9BE1-AD077549641E}"/>
          </ac:picMkLst>
        </pc:picChg>
        <pc:picChg chg="add mod">
          <ac:chgData name="M Selvam" userId="d6d9795e-cb7f-4ca4-909c-a1909c828893" providerId="ADAL" clId="{77D21AA8-553F-4AB2-8C7F-3DF8ADADA90D}" dt="2026-09-09T09:43:54.806" v="182" actId="14100"/>
          <ac:picMkLst>
            <pc:docMk/>
            <pc:sldMk cId="695185364" sldId="1015"/>
            <ac:picMk id="5" creationId="{24488C9D-2D30-3125-69F0-8049573055B2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2:03.118" v="149" actId="14100"/>
        <pc:sldMkLst>
          <pc:docMk/>
          <pc:sldMk cId="3377631291" sldId="1025"/>
        </pc:sldMkLst>
        <pc:picChg chg="del">
          <ac:chgData name="M Selvam" userId="d6d9795e-cb7f-4ca4-909c-a1909c828893" providerId="ADAL" clId="{77D21AA8-553F-4AB2-8C7F-3DF8ADADA90D}" dt="2026-09-09T09:41:46.220" v="143" actId="478"/>
          <ac:picMkLst>
            <pc:docMk/>
            <pc:sldMk cId="3377631291" sldId="1025"/>
            <ac:picMk id="4" creationId="{530DEA0B-E191-D187-0E57-F98A779E2687}"/>
          </ac:picMkLst>
        </pc:picChg>
        <pc:picChg chg="add mod">
          <ac:chgData name="M Selvam" userId="d6d9795e-cb7f-4ca4-909c-a1909c828893" providerId="ADAL" clId="{77D21AA8-553F-4AB2-8C7F-3DF8ADADA90D}" dt="2026-09-09T09:42:03.118" v="149" actId="14100"/>
          <ac:picMkLst>
            <pc:docMk/>
            <pc:sldMk cId="3377631291" sldId="1025"/>
            <ac:picMk id="5" creationId="{9614CC03-5AC2-8C76-DAFE-BA60BA1CF8F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39:48.172" v="111" actId="1076"/>
        <pc:sldMkLst>
          <pc:docMk/>
          <pc:sldMk cId="1406624847" sldId="1026"/>
        </pc:sldMkLst>
        <pc:spChg chg="mod">
          <ac:chgData name="M Selvam" userId="d6d9795e-cb7f-4ca4-909c-a1909c828893" providerId="ADAL" clId="{77D21AA8-553F-4AB2-8C7F-3DF8ADADA90D}" dt="2026-09-09T09:39:35.588" v="107" actId="14100"/>
          <ac:spMkLst>
            <pc:docMk/>
            <pc:sldMk cId="1406624847" sldId="1026"/>
            <ac:spMk id="3" creationId="{E9FA628F-2ADF-3838-19A4-F5C7D3B047C6}"/>
          </ac:spMkLst>
        </pc:spChg>
        <pc:picChg chg="del">
          <ac:chgData name="M Selvam" userId="d6d9795e-cb7f-4ca4-909c-a1909c828893" providerId="ADAL" clId="{77D21AA8-553F-4AB2-8C7F-3DF8ADADA90D}" dt="2026-09-09T09:39:29.769" v="106" actId="478"/>
          <ac:picMkLst>
            <pc:docMk/>
            <pc:sldMk cId="1406624847" sldId="1026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39:48.172" v="111" actId="1076"/>
          <ac:picMkLst>
            <pc:docMk/>
            <pc:sldMk cId="1406624847" sldId="1026"/>
            <ac:picMk id="5" creationId="{E315328B-2062-6B94-DEDE-8CFD1B404E8E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29.255" v="175" actId="1076"/>
        <pc:sldMkLst>
          <pc:docMk/>
          <pc:sldMk cId="2893977295" sldId="1027"/>
        </pc:sldMkLst>
        <pc:spChg chg="mod">
          <ac:chgData name="M Selvam" userId="d6d9795e-cb7f-4ca4-909c-a1909c828893" providerId="ADAL" clId="{77D21AA8-553F-4AB2-8C7F-3DF8ADADA90D}" dt="2026-09-09T09:36:12.511" v="63" actId="1076"/>
          <ac:spMkLst>
            <pc:docMk/>
            <pc:sldMk cId="2893977295" sldId="1027"/>
            <ac:spMk id="3" creationId="{68C7B745-FF8F-90D5-CAD4-FE7D38645D69}"/>
          </ac:spMkLst>
        </pc:spChg>
        <pc:spChg chg="add del mod">
          <ac:chgData name="M Selvam" userId="d6d9795e-cb7f-4ca4-909c-a1909c828893" providerId="ADAL" clId="{77D21AA8-553F-4AB2-8C7F-3DF8ADADA90D}" dt="2026-09-09T09:35:03.462" v="46"/>
          <ac:spMkLst>
            <pc:docMk/>
            <pc:sldMk cId="2893977295" sldId="1027"/>
            <ac:spMk id="6" creationId="{F1B3039F-7EA2-E227-9D02-F0E6BED42A64}"/>
          </ac:spMkLst>
        </pc:spChg>
        <pc:picChg chg="del">
          <ac:chgData name="M Selvam" userId="d6d9795e-cb7f-4ca4-909c-a1909c828893" providerId="ADAL" clId="{77D21AA8-553F-4AB2-8C7F-3DF8ADADA90D}" dt="2026-09-09T09:34:34.405" v="40" actId="478"/>
          <ac:picMkLst>
            <pc:docMk/>
            <pc:sldMk cId="2893977295" sldId="1027"/>
            <ac:picMk id="4" creationId="{E26EF467-3DED-5C3E-3710-75BDCDED7288}"/>
          </ac:picMkLst>
        </pc:picChg>
        <pc:picChg chg="add mod">
          <ac:chgData name="M Selvam" userId="d6d9795e-cb7f-4ca4-909c-a1909c828893" providerId="ADAL" clId="{77D21AA8-553F-4AB2-8C7F-3DF8ADADA90D}" dt="2026-09-09T09:43:29.255" v="175" actId="1076"/>
          <ac:picMkLst>
            <pc:docMk/>
            <pc:sldMk cId="2893977295" sldId="1027"/>
            <ac:picMk id="5" creationId="{81FBD98C-77FA-F4F3-D8D1-E351DADE67A3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24.793" v="188" actId="14100"/>
        <pc:sldMkLst>
          <pc:docMk/>
          <pc:sldMk cId="4197773981" sldId="1033"/>
        </pc:sldMkLst>
        <pc:picChg chg="del">
          <ac:chgData name="M Selvam" userId="d6d9795e-cb7f-4ca4-909c-a1909c828893" providerId="ADAL" clId="{77D21AA8-553F-4AB2-8C7F-3DF8ADADA90D}" dt="2026-09-09T09:39:52.545" v="112" actId="478"/>
          <ac:picMkLst>
            <pc:docMk/>
            <pc:sldMk cId="4197773981" sldId="1033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44:24.793" v="188" actId="14100"/>
          <ac:picMkLst>
            <pc:docMk/>
            <pc:sldMk cId="4197773981" sldId="1033"/>
            <ac:picMk id="5" creationId="{09455320-2D9F-FA39-6651-A4D0ED124F51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00.668" v="184" actId="14100"/>
        <pc:sldMkLst>
          <pc:docMk/>
          <pc:sldMk cId="3239980978" sldId="1034"/>
        </pc:sldMkLst>
        <pc:spChg chg="mod">
          <ac:chgData name="M Selvam" userId="d6d9795e-cb7f-4ca4-909c-a1909c828893" providerId="ADAL" clId="{77D21AA8-553F-4AB2-8C7F-3DF8ADADA90D}" dt="2026-09-09T09:37:38.069" v="79" actId="14100"/>
          <ac:spMkLst>
            <pc:docMk/>
            <pc:sldMk cId="3239980978" sldId="1034"/>
            <ac:spMk id="3" creationId="{E0A18EB9-D0B2-3DF1-D33D-B8F4D4C25F3A}"/>
          </ac:spMkLst>
        </pc:spChg>
        <pc:picChg chg="del">
          <ac:chgData name="M Selvam" userId="d6d9795e-cb7f-4ca4-909c-a1909c828893" providerId="ADAL" clId="{77D21AA8-553F-4AB2-8C7F-3DF8ADADA90D}" dt="2026-09-09T09:37:33.516" v="78" actId="478"/>
          <ac:picMkLst>
            <pc:docMk/>
            <pc:sldMk cId="3239980978" sldId="1034"/>
            <ac:picMk id="4" creationId="{A4B4A364-138F-E303-4886-AF5B2A6A67C2}"/>
          </ac:picMkLst>
        </pc:picChg>
        <pc:picChg chg="add mod">
          <ac:chgData name="M Selvam" userId="d6d9795e-cb7f-4ca4-909c-a1909c828893" providerId="ADAL" clId="{77D21AA8-553F-4AB2-8C7F-3DF8ADADA90D}" dt="2026-09-09T09:44:00.668" v="184" actId="14100"/>
          <ac:picMkLst>
            <pc:docMk/>
            <pc:sldMk cId="3239980978" sldId="1034"/>
            <ac:picMk id="5" creationId="{C9FE1904-C542-AA1E-2C15-5A81417C962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06.414" v="169" actId="14100"/>
        <pc:sldMkLst>
          <pc:docMk/>
          <pc:sldMk cId="3059570066" sldId="1035"/>
        </pc:sldMkLst>
        <pc:spChg chg="mod">
          <ac:chgData name="M Selvam" userId="d6d9795e-cb7f-4ca4-909c-a1909c828893" providerId="ADAL" clId="{77D21AA8-553F-4AB2-8C7F-3DF8ADADA90D}" dt="2026-09-09T09:42:53.443" v="164" actId="14100"/>
          <ac:spMkLst>
            <pc:docMk/>
            <pc:sldMk cId="3059570066" sldId="1035"/>
            <ac:spMk id="3" creationId="{E9FA628F-2ADF-3838-19A4-F5C7D3B047C6}"/>
          </ac:spMkLst>
        </pc:spChg>
        <pc:picChg chg="del">
          <ac:chgData name="M Selvam" userId="d6d9795e-cb7f-4ca4-909c-a1909c828893" providerId="ADAL" clId="{77D21AA8-553F-4AB2-8C7F-3DF8ADADA90D}" dt="2026-09-09T09:42:48.747" v="163" actId="478"/>
          <ac:picMkLst>
            <pc:docMk/>
            <pc:sldMk cId="3059570066" sldId="1035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43:06.414" v="169" actId="14100"/>
          <ac:picMkLst>
            <pc:docMk/>
            <pc:sldMk cId="3059570066" sldId="1035"/>
            <ac:picMk id="5" creationId="{EF45E307-6A9E-5159-8B35-ADF54C109682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08.883" v="186" actId="14100"/>
        <pc:sldMkLst>
          <pc:docMk/>
          <pc:sldMk cId="1532967047" sldId="1036"/>
        </pc:sldMkLst>
        <pc:picChg chg="del">
          <ac:chgData name="M Selvam" userId="d6d9795e-cb7f-4ca4-909c-a1909c828893" providerId="ADAL" clId="{77D21AA8-553F-4AB2-8C7F-3DF8ADADA90D}" dt="2026-09-09T09:38:20.900" v="86" actId="478"/>
          <ac:picMkLst>
            <pc:docMk/>
            <pc:sldMk cId="1532967047" sldId="1036"/>
            <ac:picMk id="4" creationId="{6F302A27-548C-EB9F-75AC-04869664022C}"/>
          </ac:picMkLst>
        </pc:picChg>
        <pc:picChg chg="add mod">
          <ac:chgData name="M Selvam" userId="d6d9795e-cb7f-4ca4-909c-a1909c828893" providerId="ADAL" clId="{77D21AA8-553F-4AB2-8C7F-3DF8ADADA90D}" dt="2026-09-09T09:44:08.883" v="186" actId="14100"/>
          <ac:picMkLst>
            <pc:docMk/>
            <pc:sldMk cId="1532967047" sldId="1036"/>
            <ac:picMk id="5" creationId="{8EAABE41-1A78-C313-15FA-4DAE2C1B936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13.574" v="187" actId="14100"/>
        <pc:sldMkLst>
          <pc:docMk/>
          <pc:sldMk cId="1613146428" sldId="1037"/>
        </pc:sldMkLst>
        <pc:spChg chg="add del">
          <ac:chgData name="M Selvam" userId="d6d9795e-cb7f-4ca4-909c-a1909c828893" providerId="ADAL" clId="{77D21AA8-553F-4AB2-8C7F-3DF8ADADA90D}" dt="2026-09-09T09:38:57.800" v="95"/>
          <ac:spMkLst>
            <pc:docMk/>
            <pc:sldMk cId="1613146428" sldId="1037"/>
            <ac:spMk id="2" creationId="{F5E6F616-BA4B-81FE-2F89-F371C90508B7}"/>
          </ac:spMkLst>
        </pc:spChg>
        <pc:spChg chg="mod">
          <ac:chgData name="M Selvam" userId="d6d9795e-cb7f-4ca4-909c-a1909c828893" providerId="ADAL" clId="{77D21AA8-553F-4AB2-8C7F-3DF8ADADA90D}" dt="2026-09-09T09:38:52.884" v="93" actId="14100"/>
          <ac:spMkLst>
            <pc:docMk/>
            <pc:sldMk cId="1613146428" sldId="1037"/>
            <ac:spMk id="3" creationId="{DF291E41-CF58-74B2-9E5F-75768CDC9158}"/>
          </ac:spMkLst>
        </pc:spChg>
        <pc:picChg chg="del mod">
          <ac:chgData name="M Selvam" userId="d6d9795e-cb7f-4ca4-909c-a1909c828893" providerId="ADAL" clId="{77D21AA8-553F-4AB2-8C7F-3DF8ADADA90D}" dt="2026-09-09T09:38:47.894" v="92" actId="478"/>
          <ac:picMkLst>
            <pc:docMk/>
            <pc:sldMk cId="1613146428" sldId="1037"/>
            <ac:picMk id="4" creationId="{C22FD9CF-9FEC-A241-0CC4-FD113EF594D4}"/>
          </ac:picMkLst>
        </pc:picChg>
        <pc:picChg chg="add mod">
          <ac:chgData name="M Selvam" userId="d6d9795e-cb7f-4ca4-909c-a1909c828893" providerId="ADAL" clId="{77D21AA8-553F-4AB2-8C7F-3DF8ADADA90D}" dt="2026-09-09T09:38:57.800" v="95"/>
          <ac:picMkLst>
            <pc:docMk/>
            <pc:sldMk cId="1613146428" sldId="1037"/>
            <ac:picMk id="5" creationId="{BB8AD62B-6EA9-E005-B618-9B63878987AA}"/>
          </ac:picMkLst>
        </pc:picChg>
        <pc:picChg chg="add mod">
          <ac:chgData name="M Selvam" userId="d6d9795e-cb7f-4ca4-909c-a1909c828893" providerId="ADAL" clId="{77D21AA8-553F-4AB2-8C7F-3DF8ADADA90D}" dt="2026-09-09T09:44:13.574" v="187" actId="14100"/>
          <ac:picMkLst>
            <pc:docMk/>
            <pc:sldMk cId="1613146428" sldId="1037"/>
            <ac:picMk id="6" creationId="{4321D194-BF7A-AFFD-A853-AAA15D97525B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0:22.150" v="122" actId="1076"/>
        <pc:sldMkLst>
          <pc:docMk/>
          <pc:sldMk cId="2661305800" sldId="1038"/>
        </pc:sldMkLst>
        <pc:picChg chg="del">
          <ac:chgData name="M Selvam" userId="d6d9795e-cb7f-4ca4-909c-a1909c828893" providerId="ADAL" clId="{77D21AA8-553F-4AB2-8C7F-3DF8ADADA90D}" dt="2026-09-09T09:40:10.567" v="118" actId="478"/>
          <ac:picMkLst>
            <pc:docMk/>
            <pc:sldMk cId="2661305800" sldId="1038"/>
            <ac:picMk id="4" creationId="{C5D421F7-34F6-B423-BD32-6AFD7732491C}"/>
          </ac:picMkLst>
        </pc:picChg>
        <pc:picChg chg="add mod">
          <ac:chgData name="M Selvam" userId="d6d9795e-cb7f-4ca4-909c-a1909c828893" providerId="ADAL" clId="{77D21AA8-553F-4AB2-8C7F-3DF8ADADA90D}" dt="2026-09-09T09:40:22.150" v="122" actId="1076"/>
          <ac:picMkLst>
            <pc:docMk/>
            <pc:sldMk cId="2661305800" sldId="1038"/>
            <ac:picMk id="5" creationId="{69E31CD9-0893-71CD-A52F-CE13AF034AA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1:00.577" v="129" actId="1076"/>
        <pc:sldMkLst>
          <pc:docMk/>
          <pc:sldMk cId="3151414207" sldId="1039"/>
        </pc:sldMkLst>
        <pc:spChg chg="mod">
          <ac:chgData name="M Selvam" userId="d6d9795e-cb7f-4ca4-909c-a1909c828893" providerId="ADAL" clId="{77D21AA8-553F-4AB2-8C7F-3DF8ADADA90D}" dt="2026-09-09T09:40:49.037" v="124" actId="14100"/>
          <ac:spMkLst>
            <pc:docMk/>
            <pc:sldMk cId="3151414207" sldId="1039"/>
            <ac:spMk id="3" creationId="{ED121F08-AD64-6706-BBF1-E99AD8E172AB}"/>
          </ac:spMkLst>
        </pc:spChg>
        <pc:picChg chg="del">
          <ac:chgData name="M Selvam" userId="d6d9795e-cb7f-4ca4-909c-a1909c828893" providerId="ADAL" clId="{77D21AA8-553F-4AB2-8C7F-3DF8ADADA90D}" dt="2026-09-09T09:40:40.759" v="123" actId="478"/>
          <ac:picMkLst>
            <pc:docMk/>
            <pc:sldMk cId="3151414207" sldId="1039"/>
            <ac:picMk id="4" creationId="{4B688A92-D094-DFA8-C37F-55F638A100ED}"/>
          </ac:picMkLst>
        </pc:picChg>
        <pc:picChg chg="add mod">
          <ac:chgData name="M Selvam" userId="d6d9795e-cb7f-4ca4-909c-a1909c828893" providerId="ADAL" clId="{77D21AA8-553F-4AB2-8C7F-3DF8ADADA90D}" dt="2026-09-09T09:41:00.577" v="129" actId="1076"/>
          <ac:picMkLst>
            <pc:docMk/>
            <pc:sldMk cId="3151414207" sldId="1039"/>
            <ac:picMk id="5" creationId="{5E41F741-6C92-DBA8-8287-DCADD1E7CA3D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1:21.724" v="136" actId="14100"/>
        <pc:sldMkLst>
          <pc:docMk/>
          <pc:sldMk cId="3424103010" sldId="1040"/>
        </pc:sldMkLst>
        <pc:picChg chg="del">
          <ac:chgData name="M Selvam" userId="d6d9795e-cb7f-4ca4-909c-a1909c828893" providerId="ADAL" clId="{77D21AA8-553F-4AB2-8C7F-3DF8ADADA90D}" dt="2026-09-09T09:41:05.040" v="130" actId="478"/>
          <ac:picMkLst>
            <pc:docMk/>
            <pc:sldMk cId="3424103010" sldId="1040"/>
            <ac:picMk id="4" creationId="{C4D81696-053B-0369-CCCB-94A69D7BFF89}"/>
          </ac:picMkLst>
        </pc:picChg>
        <pc:picChg chg="add mod">
          <ac:chgData name="M Selvam" userId="d6d9795e-cb7f-4ca4-909c-a1909c828893" providerId="ADAL" clId="{77D21AA8-553F-4AB2-8C7F-3DF8ADADA90D}" dt="2026-09-09T09:41:21.724" v="136" actId="14100"/>
          <ac:picMkLst>
            <pc:docMk/>
            <pc:sldMk cId="3424103010" sldId="1040"/>
            <ac:picMk id="5" creationId="{34E27D2C-6F90-7DF9-AB19-4F214FE76D09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3:17.269" v="278" actId="20577"/>
        <pc:sldMkLst>
          <pc:docMk/>
          <pc:sldMk cId="4207118935" sldId="1041"/>
        </pc:sldMkLst>
        <pc:spChg chg="mod">
          <ac:chgData name="M Selvam" userId="d6d9795e-cb7f-4ca4-909c-a1909c828893" providerId="ADAL" clId="{77D21AA8-553F-4AB2-8C7F-3DF8ADADA90D}" dt="2026-09-09T10:43:17.269" v="278" actId="20577"/>
          <ac:spMkLst>
            <pc:docMk/>
            <pc:sldMk cId="4207118935" sldId="1041"/>
            <ac:spMk id="3" creationId="{69625804-55EE-9262-0513-B15AAAE3703A}"/>
          </ac:spMkLst>
        </pc:spChg>
        <pc:picChg chg="del">
          <ac:chgData name="M Selvam" userId="d6d9795e-cb7f-4ca4-909c-a1909c828893" providerId="ADAL" clId="{77D21AA8-553F-4AB2-8C7F-3DF8ADADA90D}" dt="2026-09-09T09:41:28.323" v="137" actId="478"/>
          <ac:picMkLst>
            <pc:docMk/>
            <pc:sldMk cId="4207118935" sldId="1041"/>
            <ac:picMk id="4" creationId="{C41EDFA5-D4F7-CF5E-05CA-F1D090EE9A81}"/>
          </ac:picMkLst>
        </pc:picChg>
        <pc:picChg chg="add mod">
          <ac:chgData name="M Selvam" userId="d6d9795e-cb7f-4ca4-909c-a1909c828893" providerId="ADAL" clId="{77D21AA8-553F-4AB2-8C7F-3DF8ADADA90D}" dt="2026-09-09T09:41:41.475" v="142" actId="14100"/>
          <ac:picMkLst>
            <pc:docMk/>
            <pc:sldMk cId="4207118935" sldId="1041"/>
            <ac:picMk id="5" creationId="{81A1E605-EF66-503F-9EFE-62349AAAD9CE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4:26.372" v="334" actId="20577"/>
        <pc:sldMkLst>
          <pc:docMk/>
          <pc:sldMk cId="3059336372" sldId="1042"/>
        </pc:sldMkLst>
        <pc:spChg chg="mod">
          <ac:chgData name="M Selvam" userId="d6d9795e-cb7f-4ca4-909c-a1909c828893" providerId="ADAL" clId="{77D21AA8-553F-4AB2-8C7F-3DF8ADADA90D}" dt="2026-09-09T10:44:26.372" v="334" actId="20577"/>
          <ac:spMkLst>
            <pc:docMk/>
            <pc:sldMk cId="3059336372" sldId="1042"/>
            <ac:spMk id="3" creationId="{D11D1431-CBB1-2E8B-9D61-C266D7E354F4}"/>
          </ac:spMkLst>
        </pc:spChg>
        <pc:picChg chg="del">
          <ac:chgData name="M Selvam" userId="d6d9795e-cb7f-4ca4-909c-a1909c828893" providerId="ADAL" clId="{77D21AA8-553F-4AB2-8C7F-3DF8ADADA90D}" dt="2026-09-09T09:42:08.347" v="150" actId="478"/>
          <ac:picMkLst>
            <pc:docMk/>
            <pc:sldMk cId="3059336372" sldId="1042"/>
            <ac:picMk id="4" creationId="{B7BACBCA-7175-4B4F-1E27-85287EF57161}"/>
          </ac:picMkLst>
        </pc:picChg>
        <pc:picChg chg="add mod">
          <ac:chgData name="M Selvam" userId="d6d9795e-cb7f-4ca4-909c-a1909c828893" providerId="ADAL" clId="{77D21AA8-553F-4AB2-8C7F-3DF8ADADA90D}" dt="2026-09-09T09:42:19.030" v="154" actId="1076"/>
          <ac:picMkLst>
            <pc:docMk/>
            <pc:sldMk cId="3059336372" sldId="1042"/>
            <ac:picMk id="5" creationId="{EC9D29C0-805E-09D5-FBBC-105D2D7A27FA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4:44.818" v="358" actId="20577"/>
        <pc:sldMkLst>
          <pc:docMk/>
          <pc:sldMk cId="2649194420" sldId="1043"/>
        </pc:sldMkLst>
        <pc:spChg chg="mod">
          <ac:chgData name="M Selvam" userId="d6d9795e-cb7f-4ca4-909c-a1909c828893" providerId="ADAL" clId="{77D21AA8-553F-4AB2-8C7F-3DF8ADADA90D}" dt="2026-09-09T10:44:44.818" v="358" actId="20577"/>
          <ac:spMkLst>
            <pc:docMk/>
            <pc:sldMk cId="2649194420" sldId="1043"/>
            <ac:spMk id="3" creationId="{BFD1F075-A6AF-DC0E-0383-CB3781E97989}"/>
          </ac:spMkLst>
        </pc:spChg>
        <pc:picChg chg="del">
          <ac:chgData name="M Selvam" userId="d6d9795e-cb7f-4ca4-909c-a1909c828893" providerId="ADAL" clId="{77D21AA8-553F-4AB2-8C7F-3DF8ADADA90D}" dt="2026-09-09T09:42:22.604" v="155" actId="478"/>
          <ac:picMkLst>
            <pc:docMk/>
            <pc:sldMk cId="2649194420" sldId="1043"/>
            <ac:picMk id="4" creationId="{18FD9FB3-6EC2-DEB2-9BE4-5349E73E5C4A}"/>
          </ac:picMkLst>
        </pc:picChg>
        <pc:picChg chg="add mod">
          <ac:chgData name="M Selvam" userId="d6d9795e-cb7f-4ca4-909c-a1909c828893" providerId="ADAL" clId="{77D21AA8-553F-4AB2-8C7F-3DF8ADADA90D}" dt="2026-09-09T09:42:42.897" v="162" actId="14100"/>
          <ac:picMkLst>
            <pc:docMk/>
            <pc:sldMk cId="2649194420" sldId="1043"/>
            <ac:picMk id="5" creationId="{CD3C8A54-DB36-4EFB-9F5E-BC062E18F093}"/>
          </ac:picMkLst>
        </pc:picChg>
      </pc:sldChg>
      <pc:sldChg chg="modSp add mod">
        <pc:chgData name="M Selvam" userId="d6d9795e-cb7f-4ca4-909c-a1909c828893" providerId="ADAL" clId="{77D21AA8-553F-4AB2-8C7F-3DF8ADADA90D}" dt="2026-09-09T10:42:46.846" v="218" actId="20577"/>
        <pc:sldMkLst>
          <pc:docMk/>
          <pc:sldMk cId="2150593120" sldId="1044"/>
        </pc:sldMkLst>
        <pc:spChg chg="mod">
          <ac:chgData name="M Selvam" userId="d6d9795e-cb7f-4ca4-909c-a1909c828893" providerId="ADAL" clId="{77D21AA8-553F-4AB2-8C7F-3DF8ADADA90D}" dt="2026-09-09T10:42:46.846" v="218" actId="20577"/>
          <ac:spMkLst>
            <pc:docMk/>
            <pc:sldMk cId="2150593120" sldId="1044"/>
            <ac:spMk id="3" creationId="{A32D421F-1615-2669-0698-211111DAE13D}"/>
          </ac:spMkLst>
        </pc:spChg>
      </pc:sldChg>
      <pc:sldChg chg="modSp add mod">
        <pc:chgData name="M Selvam" userId="d6d9795e-cb7f-4ca4-909c-a1909c828893" providerId="ADAL" clId="{77D21AA8-553F-4AB2-8C7F-3DF8ADADA90D}" dt="2026-09-09T10:43:04.298" v="256" actId="20577"/>
        <pc:sldMkLst>
          <pc:docMk/>
          <pc:sldMk cId="3967463539" sldId="1045"/>
        </pc:sldMkLst>
        <pc:spChg chg="mod">
          <ac:chgData name="M Selvam" userId="d6d9795e-cb7f-4ca4-909c-a1909c828893" providerId="ADAL" clId="{77D21AA8-553F-4AB2-8C7F-3DF8ADADA90D}" dt="2026-09-09T10:43:04.298" v="256" actId="20577"/>
          <ac:spMkLst>
            <pc:docMk/>
            <pc:sldMk cId="3967463539" sldId="1045"/>
            <ac:spMk id="3" creationId="{64961CD4-3E10-98EF-AD19-1669748F6FCB}"/>
          </ac:spMkLst>
        </pc:spChg>
      </pc:sldChg>
      <pc:sldChg chg="add del">
        <pc:chgData name="M Selvam" userId="d6d9795e-cb7f-4ca4-909c-a1909c828893" providerId="ADAL" clId="{77D21AA8-553F-4AB2-8C7F-3DF8ADADA90D}" dt="2026-09-09T10:44:54.063" v="359" actId="47"/>
        <pc:sldMkLst>
          <pc:docMk/>
          <pc:sldMk cId="2190406105" sldId="104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9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ieee8023/covid-chestxray-datase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openxmlformats.org/markup-compatibility/2006" xmlns:ns6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ns2:creationId id="{90112947-B9C2-2E92-2ED4-7AE86C45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0808" y="1913534"/>
            <a:ext cx="8534400" cy="455599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Team Members: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[Name] — [Register No]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[Name] — [Register No]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[Name] — [Register No]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[Name] — [Register No]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[Name] — [Register No]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Name of the Mentor: [Mentor Name]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E1CSA313/E1ITA306 Design Project - 1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Subtitle 5">
            <a:extLst>
              <a:ext uri="{FF2B5EF4-FFF2-40B4-BE49-F238E27FC236}">
                <ns2:creationId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822960" y="594360"/>
            <a:ext cx="704088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2400" b="1" dirty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AI-Based Smart Meal Analyzer</a:t>
            </a:r>
            <a:endParaRPr lang="en-IN" sz="2400" b="1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buNone/>
            </a:pPr>
            <a:r>
              <a:rPr lang="en-IN" sz="2400" b="1" dirty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&amp; Personalized Nutrition Recommendation System</a:t>
            </a:r>
            <a:endParaRPr lang="en-IN" sz="2400" b="1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ns2:creationId id="{9D471D20-F6B2-348C-6B60-AFE0319ECD25}"/>
              </a:ext>
            </a:extLst>
          </p:cNvPr>
          <p:cNvPicPr>
            <a:picLocks noChangeAspect="1"/>
          </p:cNvPicPr>
          <p:nvPr/>
        </p:nvPicPr>
        <p:blipFill>
          <a:blip ns3:embed="rId3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8754255" y="153857"/>
            <a:ext cx="3125501" cy="630861"/>
          </a:xfrm>
          <a:prstGeom prst="rect">
            <a:avLst/>
          </a:prstGeom>
        </p:spPr>
      </p:pic>
    </p:spTree>
  </p:cSld>
  <p:clrMapOvr>
    <a:masterClrMapping/>
  </p:clrMapOvr>
  <ns5:AlternateContent>
    <ns5:Choice Requires="p14">
      <p:transition spd="slow" ns6:dur="2000">
        <ns6:prism isContent="1"/>
      </p:transition>
    </ns5:Choice>
    <ns5:Fallback>
      <p:transition spd="slow">
        <p:fade/>
      </p:transition>
    </ns5:Fallback>
  </ns5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037F-BF3C-25A0-59D8-5919CD38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F4E8D8-8E72-3C38-A5E9-E80E419F8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79483"/>
            <a:ext cx="11175032" cy="6262595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 (Refer minimum of 10 Recent Journal / Conference papers)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 (Brief description as points)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 (Brief description as points)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Proposed Methodology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 Min. of 10 papers)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Report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7B745-FF8F-90D5-CAD4-FE7D3864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882" y="171803"/>
            <a:ext cx="6180944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BD98C-77FA-F4F3-D8D1-E351DADE6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275" y="297702"/>
            <a:ext cx="3210257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7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802E9103-52C6-689F-10D5-B7A7B553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16386010-7A55-512E-9ACA-BAA4168A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ns2:creationId id="{3280A4A6-FE4E-5BD7-0D80-570328273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51560"/>
            <a:ext cx="1097280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Meal images are easy to capture, but reliable nutrient estimates remain difficult.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Users need portion-aware estimates, verified food data, and recommendations that respect allergies, health conditions, and preferences.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This project combines computer vision, food-composition lookup, safety rules, and personalized ranking in one transparent workflow.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Goal: build a clear, low-cost prototype that shows its evidence and allows user correction.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ns2:creationId id="{D046E4DE-BCE0-C9B2-CDC2-1E28119D86A3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8754256" y="134859"/>
            <a:ext cx="3184992" cy="563562"/>
          </a:xfrm>
          <a:prstGeom prst="rect">
            <a:avLst/>
          </a:prstGeom>
        </p:spPr>
      </p:pic>
    </p:spTree>
    <p:extLst>
      <p:ext uri="{BB962C8B-B14F-4D97-AF65-F5344CB8AC3E}">
        <ns5:creationId val="3089745817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ns5="http://schemas.microsoft.com/office/drawing/2010/main" xmlns:ns6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1388E515-7DA4-4EC4-922F-F3FCE0C44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250D3DD8-F8CE-44A3-AC54-0E84875C0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  <a:normAutofit/>
          </a:bodyPr>
          <a:lstStyle/>
          <a:p>
            <a:pPr marL="0" indent="0" algn="l">
              <a:buNone/>
            </a:pPr>
            <a:r>
              <a:rPr lang="en-IN" sz="3200" dirty="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ns2:creationId id="{05E1A72F-2375-4691-AD7F-6DD535BCE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179378642"/>
              </p:ext>
            </p:extLst>
          </p:nvPr>
        </p:nvGraphicFramePr>
        <p:xfrm>
          <a:off x="427703" y="1135626"/>
          <a:ext cx="11356929" cy="489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ns2:colId val="3476363090"/>
                    </a:ext>
                  </a:extLst>
                </a:gridCol>
                <a:gridCol w="2580968">
                  <a:extLst>
                    <a:ext uri="{9D8B030D-6E8A-4147-A177-3AD203B41FA5}">
                      <ns2:colId val="3690190586"/>
                    </a:ext>
                  </a:extLst>
                </a:gridCol>
                <a:gridCol w="2249940">
                  <a:extLst>
                    <a:ext uri="{9D8B030D-6E8A-4147-A177-3AD203B41FA5}">
                      <ns2:colId val="363996245"/>
                    </a:ext>
                  </a:extLst>
                </a:gridCol>
                <a:gridCol w="1837749">
                  <a:extLst>
                    <a:ext uri="{9D8B030D-6E8A-4147-A177-3AD203B41FA5}">
                      <ns2:colId val="3098826648"/>
                    </a:ext>
                  </a:extLst>
                </a:gridCol>
                <a:gridCol w="2024287">
                  <a:extLst>
                    <a:ext uri="{9D8B030D-6E8A-4147-A177-3AD203B41FA5}">
                      <ns2:colId val="646655925"/>
                    </a:ext>
                  </a:extLst>
                </a:gridCol>
                <a:gridCol w="1956062">
                  <a:extLst>
                    <a:ext uri="{9D8B030D-6E8A-4147-A177-3AD203B41FA5}">
                      <ns2:colId val="923233871"/>
                    </a:ext>
                  </a:extLst>
                </a:gridCol>
              </a:tblGrid>
              <a:tr h="1087060"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891171937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Dalakleidi et al. (2022)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Reviewed 78 food-image studies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Food-101 accuracy: 55.3–90.3%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Maps system steps and failure cases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Recognition is not nutrient accuracy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Stefanidis et al. (2022)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Safety rules + ranking method; 3,000 virtual profiles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Rejection score (F1): 0.995; energy +7.32%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Separates safety from optimization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Synthetic profiles; no clinical outcome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Moyen et al. (2022)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Randomized crossover; 136 adults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energy difference: −32 kcal/day; usability 77 vs 53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usability and correction matter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Wide individual error; short study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Shonkoff et al. (2023)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Systematic review: 52 image studies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relative error: energy 0.10–38.3%; volume 0.09–33%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why reference methods matter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Too varied to combine; food-database labels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ns2:creationId id="{E294633E-F5D1-4EDE-B451-D7D5D8A5C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ns3:creationId val="95257650"/>
      </p:ext>
    </p:extLst>
  </p:cSld>
  <p:clrMapOvr>
    <a:masterClrMapping/>
  </p:clrMapOvr>
  <ns6:AlternateContent>
    <ns6:Choice Requires="p14">
      <p:transition spd="slow" ns3:dur="2000">
        <ns3:prism isContent="1"/>
      </p:transition>
    </ns6:Choice>
    <ns6:Fallback>
      <p:transition spd="slow">
        <p:fade/>
      </p:transition>
    </ns6:Fallback>
  </ns6:AlternateContent>
</p:sld>
</file>

<file path=ppt/slides/slide5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395A0046-BF80-C7AC-4092-5F6B766C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424006D7-2A1D-A4B2-63D6-92A249697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59263"/>
            <a:ext cx="11173961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Recognition accuracy does not guarantee calorie or nutrient accuracy.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Portion size, hidden oil, ingredients, and cooking method drive most errors.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Verified food-database retrieval is safer than asking an LLM to remember nutrients.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Safety rules and human correction are necessary for trustworthy recommendations.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Personalization should come after measurement and safety filtering.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39A6E23D-A5D8-BE38-914C-4697198F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40118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ns2:creationId id="{47D2E993-E474-0C27-DF8A-10B6A433EC16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143999" y="228601"/>
            <a:ext cx="2639561" cy="563562"/>
          </a:xfrm>
          <a:prstGeom prst="rect">
            <a:avLst/>
          </a:prstGeom>
        </p:spPr>
      </p:pic>
    </p:spTree>
    <p:extLst>
      <p:ext uri="{BB962C8B-B14F-4D97-AF65-F5344CB8AC3E}">
        <ns5:creationId val="2694801863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6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6AB28F11-9544-18C8-69F6-B6B1393A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D0EF3ED1-1B2C-DD44-A421-B9D1C2BCE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18997"/>
            <a:ext cx="11171583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Mixed dishes, occlusion, lighting, and plate size reduce reliability.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Many datasets are small, synthetic, or culturally narrow.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Most studies use reference tables instead of weighed or clinical ground truth.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Proprietary models and closed databases limit reproducibility.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Acceptance scores do not prove adherence, safety, or health outcomes.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BBD3710E-1FD6-A145-E602-76470D00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140315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ns2:creationId id="{24488C9D-2D30-3125-69F0-8049573055B2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8799226" y="300192"/>
            <a:ext cx="2783174" cy="491970"/>
          </a:xfrm>
          <a:prstGeom prst="rect">
            <a:avLst/>
          </a:prstGeom>
        </p:spPr>
      </p:pic>
    </p:spTree>
    <p:extLst>
      <p:ext uri="{BB962C8B-B14F-4D97-AF65-F5344CB8AC3E}">
        <ns5:creationId val="695185364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7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Problem: Existing apps often recognize foods but do not provide transparent, portion-aware nutrient estimates.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Scope: Image capture → food/portion analysis → verified nutrient lookup → safety filtering → personalized recommendations.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Include: User profile, allergies, dietary preferences, confidence scores, and correction controls.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Exclude: Medical diagnosis, treatment plans, and unsupported clinical claims.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Deliverable: A simple prototype for general nutrition support and dietetic consultation.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85089" cy="56356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Scope of the Project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ns2:creationId id="{C9FE1904-C542-AA1E-2C15-5A81417C962A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</p:spTree>
    <p:extLst>
      <p:ext uri="{BB962C8B-B14F-4D97-AF65-F5344CB8AC3E}">
        <ns5:creationId val="3239980978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8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7C721525-3BCB-4374-17CC-3091B416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0947EA18-0651-E7BB-17C7-C377043CE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layered, human-in-the-loop system: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Capture one meal image and check image quality.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Detect foods/ingredients and estimate portions.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Retrieve nutrients from a verified food-composition database.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Apply allergy, medical, religious, and preference constraints.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Rank suitable foods and explain the nutrient rationale.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19BE5AE2-40E3-427C-DEBA-FA190D02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 / Solution</a:t>
            </a:r>
          </a:p>
        </p:txBody>
      </p:sp>
      <p:pic>
        <p:nvPicPr>
          <p:cNvPr id="5" name="Picture 4">
            <a:extLst>
              <a:ext uri="{FF2B5EF4-FFF2-40B4-BE49-F238E27FC236}">
                <ns2:creationId id="{8EAABE41-1A78-C313-15FA-4DAE2C1B936A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8739266" y="228601"/>
            <a:ext cx="2990120" cy="563562"/>
          </a:xfrm>
          <a:prstGeom prst="rect">
            <a:avLst/>
          </a:prstGeom>
        </p:spPr>
      </p:pic>
    </p:spTree>
    <p:extLst>
      <p:ext uri="{BB962C8B-B14F-4D97-AF65-F5344CB8AC3E}">
        <ns5:creationId val="1532967047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9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94BC2826-D987-657A-B60A-74C1EACDD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F5E6F616-BA4B-81FE-2F89-F371C9050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Build an image-based meal analysis prototype.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Estimate food identity and portion with confidence indicators.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Calculate calories and macronutrients from verified data.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Enforce allergy and medical constraints before ranking foods.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Evaluate accuracy, usability, latency, and recommendation safety.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DF291E41-CF58-74B2-9E5F-75768CDC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864184" cy="563562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Idea / Solution as Design Project</a:t>
            </a:r>
          </a:p>
        </p:txBody>
      </p:sp>
      <p:pic>
        <p:nvPicPr>
          <p:cNvPr id="6" name="Picture 5">
            <a:extLst>
              <a:ext uri="{FF2B5EF4-FFF2-40B4-BE49-F238E27FC236}">
                <ns2:creationId id="{4321D194-BF7A-AFFD-A853-AAA15D97525B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473784" y="228600"/>
            <a:ext cx="2505439" cy="563562"/>
          </a:xfrm>
          <a:prstGeom prst="rect">
            <a:avLst/>
          </a:prstGeom>
        </p:spPr>
      </p:pic>
    </p:spTree>
    <p:extLst>
      <p:ext uri="{BB962C8B-B14F-4D97-AF65-F5344CB8AC3E}">
        <ns5:creationId val="1613146428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10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Content Placeholder 1">
            <a:extLst>
              <a:ext uri="{FF2B5EF4-FFF2-40B4-BE49-F238E27FC236}">
                <ns2:creationId id="{80C5B857-177B-4550-2344-1CED2EAFC5B9}"/>
              </a:ext>
            </a:extLst>
          </ns0:cNvPr>
          <ns0:cNvSpPr>
            <a:spLocks noGrp="1"/>
          </ns0:cNvSpPr>
          <ns0:nvPr>
            <ns0:ph idx="1"/>
          </ns0:nvPr>
        </ns0:nvSpPr>
        <ns0:spPr>
          <a:xfrm>
            <a:off x="609600" y="1052736"/>
            <a:ext cx="10972800" cy="5400599"/>
          </a:xfrm>
        </ns0:spPr>
        <ns0:txBody>
          <a:bodyPr vert="horz" lIns="60000" tIns="30000" rIns="60000" bIns="30000" anchor="t" wrap="square">
            <a:normAutofit/>
          </a:bodyPr>
          <a:lstStyle/>
          <a:p>
            <a:pPr marL="0" indent="0" algn="l">
              <a:spcAft>
                <a:spcPts val="15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Select public food-image datasets and a verified food-composition source.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15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Preprocess images and run food/ingredient recognition with portion estimation.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15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Retrieve calories and nutrients from the food database.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15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Apply safety rules and preference-based ranking.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15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Evaluate on held-out images and a small user pilot; report errors, speed, and safety violations.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ns0:txBody>
      </ns0:sp>
      <ns0:sp>
        <ns0:nvSpPr>
          <ns0:cNvPr id="3" name="Title 2">
            <a:extLst>
              <a:ext uri="{FF2B5EF4-FFF2-40B4-BE49-F238E27FC236}">
                <ns2:creationId id="{E0A18EB9-D0B2-3DF1-D33D-B8F4D4C25F3A}"/>
              </a:ext>
            </a:extLst>
          </ns0:cNvPr>
          <ns0:cNvSpPr>
            <a:spLocks noGrp="1"/>
          </ns0:cNvSpPr>
          <ns0:nvPr>
            <ns0:ph type="title"/>
          </ns0:nvPr>
        </ns0:nvSpPr>
        <ns0:spPr/>
        <ns0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ns0:txBody>
      </ns0:sp>
      <ns0:pic>
        <ns0:nvPicPr>
          <ns0:cNvPr id="5" name="Picture 4">
            <a:extLst>
              <a:ext uri="{FF2B5EF4-FFF2-40B4-BE49-F238E27FC236}">
                <ns2:creationId id="{E69172F0-DC24-A9DB-0F68-54E3881FD548}"/>
              </a:ext>
            </a:extLst>
          </ns0:cNvPr>
          <ns0:cNvPicPr>
            <a:picLocks noChangeAspect="1"/>
          </ns0:cNvPicPr>
          <ns0:nvPr/>
        </ns0:nvPicPr>
        <ns0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ns0:blipFill>
        <ns0:spPr>
          <a:xfrm>
            <a:off x="8992016" y="228600"/>
            <a:ext cx="2775262" cy="520477"/>
          </a:xfrm>
          <a:prstGeom prst="rect">
            <a:avLst/>
          </a:prstGeom>
        </ns0:spPr>
      </ns0:pic>
    </ns0:spTree>
    <ns0:extLst>
      <ns0:ext uri="{BB962C8B-B14F-4D97-AF65-F5344CB8AC3E}">
        <ns5:creationId val="2311492942"/>
      </ns0:ext>
    </ns0:extLst>
  </ns0:cSld>
  <ns0:clrMapOvr>
    <a:masterClrMapping/>
  </ns0:clrMapOvr>
  <ns6:AlternateContent>
    <ns6:Choice Requires="p14">
      <ns0:transition spd="slow" ns5:dur="2000">
        <ns5:prism isContent="1"/>
      </ns0:transition>
    </ns6:Choice>
    <ns6:Fallback>
      <ns0:transition spd="slow">
        <ns0:fade/>
      </ns0:transition>
    </ns6:Fallback>
  </ns6:AlternateContent>
</ns0:sld>
</file>

<file path=ppt/slides/slide11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Smartphone with a rear RGB camera.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Laptop/PC with 8–16 GB RAM and internet access.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Optional kitchen scale or reference card for portion checks.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USB camera and controlled lighting for experiments.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Depth camera is optional; it is not required for the prototype.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94294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pic>
        <p:nvPicPr>
          <p:cNvPr id="5" name="Picture 4">
            <a:extLst>
              <a:ext uri="{FF2B5EF4-FFF2-40B4-BE49-F238E27FC236}">
                <ns2:creationId id="{E315328B-2062-6B94-DEDE-8CFD1B404E8E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8737184" y="151141"/>
            <a:ext cx="3179997" cy="550457"/>
          </a:xfrm>
          <a:prstGeom prst="rect">
            <a:avLst/>
          </a:prstGeom>
        </p:spPr>
      </p:pic>
    </p:spTree>
    <p:extLst>
      <p:ext uri="{BB962C8B-B14F-4D97-AF65-F5344CB8AC3E}">
        <ns5:creationId val="1406624847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12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Python with PyTorch or ONNX Runtime.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OpenCV and Pillow for image processing.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Flask/FastAPI backend with a React or mobile front end.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SQLite/PostgreSQL plus verified food-composition data.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Git, pytest, and experiment logging.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 proprietary API is required for the prototype.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Requirements</a:t>
            </a:r>
          </a:p>
        </p:txBody>
      </p:sp>
      <p:pic>
        <p:nvPicPr>
          <p:cNvPr id="5" name="Picture 4">
            <a:extLst>
              <a:ext uri="{FF2B5EF4-FFF2-40B4-BE49-F238E27FC236}">
                <ns2:creationId id="{09455320-2D9F-FA39-6651-A4D0ED124F51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129010" y="241174"/>
            <a:ext cx="2818151" cy="550457"/>
          </a:xfrm>
          <a:prstGeom prst="rect">
            <a:avLst/>
          </a:prstGeom>
        </p:spPr>
      </p:pic>
    </p:spTree>
    <p:extLst>
      <p:ext uri="{BB962C8B-B14F-4D97-AF65-F5344CB8AC3E}">
        <ns5:creationId val="4197773981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13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ns6="http://schemas.openxmlformats.org/markup-compatibility/2006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ns2:creationId id="{37F2E8EE-CD24-2C42-4A67-9564FE55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43B9D8FE-2220-5A3B-7132-BC49787B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/ Flow / Design Diagram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ns2:creationId id="{69E31CD9-0893-71CD-A52F-CE13AF034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  <p:sp>
        <p:nvSpPr>
          <p:cNvPr id="6" name="Step 1"/>
          <p:cNvSpPr/>
          <p:nvPr/>
        </p:nvSpPr>
        <p:spPr>
          <a:xfrm>
            <a:off x="502920" y="123444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lIns="60000" tIns="30000" rIns="60000" bIns="30000" anchor="ctr" wrap="square">
            <a:normAutofit/>
          </a:bodyPr>
          <a:lstStyle/>
          <a:p>
            <a:pPr marL="0" indent="0" algn="ctr">
              <a:buNone/>
            </a:pPr>
            <a:r>
              <a:rPr lang="en-IN" sz="1600" dirty="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  Capture meal image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Step 2"/>
          <p:cNvSpPr/>
          <p:nvPr/>
        </p:nvSpPr>
        <p:spPr>
          <a:xfrm>
            <a:off x="3154680" y="123444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lIns="60000" tIns="30000" rIns="60000" bIns="30000" anchor="ctr" wrap="square">
            <a:normAutofit/>
          </a:bodyPr>
          <a:lstStyle/>
          <a:p>
            <a:pPr marL="0" indent="0" algn="ctr">
              <a:buNone/>
            </a:pPr>
            <a:r>
              <a:rPr lang="en-IN" sz="1600" dirty="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  Check image quality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Step 3"/>
          <p:cNvSpPr/>
          <p:nvPr/>
        </p:nvSpPr>
        <p:spPr>
          <a:xfrm>
            <a:off x="5806440" y="123444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lIns="60000" tIns="30000" rIns="60000" bIns="30000" anchor="ctr" wrap="square">
            <a:normAutofit/>
          </a:bodyPr>
          <a:lstStyle/>
          <a:p>
            <a:pPr marL="0" indent="0" algn="ctr">
              <a:buNone/>
            </a:pPr>
            <a:r>
              <a:rPr lang="en-IN" sz="1600" dirty="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  Detect food + estimate portion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tep 4"/>
          <p:cNvSpPr/>
          <p:nvPr/>
        </p:nvSpPr>
        <p:spPr>
          <a:xfrm>
            <a:off x="8458200" y="123444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lIns="60000" tIns="30000" rIns="60000" bIns="30000" anchor="ctr" wrap="square">
            <a:normAutofit/>
          </a:bodyPr>
          <a:lstStyle/>
          <a:p>
            <a:pPr marL="0" indent="0" algn="ctr">
              <a:buNone/>
            </a:pPr>
            <a:r>
              <a:rPr lang="en-IN" sz="1600" dirty="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  Look up verified nutrients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Arrow"/>
          <p:cNvSpPr/>
          <p:nvPr/>
        </p:nvSpPr>
        <p:spPr>
          <a:xfrm>
            <a:off x="2944368" y="1517904"/>
            <a:ext cx="201168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</p:sp>
      <p:sp>
        <p:nvSpPr>
          <p:cNvPr id="11" name="Arrow"/>
          <p:cNvSpPr/>
          <p:nvPr/>
        </p:nvSpPr>
        <p:spPr>
          <a:xfrm>
            <a:off x="5596128" y="1517904"/>
            <a:ext cx="201168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</p:sp>
      <p:sp>
        <p:nvSpPr>
          <p:cNvPr id="12" name="Arrow"/>
          <p:cNvSpPr/>
          <p:nvPr/>
        </p:nvSpPr>
        <p:spPr>
          <a:xfrm>
            <a:off x="8247888" y="1517904"/>
            <a:ext cx="201168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</p:sp>
      <p:sp>
        <p:nvSpPr>
          <p:cNvPr id="13" name="Arrow down"/>
          <p:cNvSpPr/>
          <p:nvPr/>
        </p:nvSpPr>
        <p:spPr>
          <a:xfrm>
            <a:off x="9555480" y="2212848"/>
            <a:ext cx="228600" cy="685800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</p:sp>
      <p:sp>
        <p:nvSpPr>
          <p:cNvPr id="14" name="Step 5"/>
          <p:cNvSpPr/>
          <p:nvPr/>
        </p:nvSpPr>
        <p:spPr>
          <a:xfrm>
            <a:off x="8458200" y="315468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lIns="60000" tIns="30000" rIns="60000" bIns="30000" anchor="ctr" wrap="square">
            <a:normAutofit/>
          </a:bodyPr>
          <a:lstStyle/>
          <a:p>
            <a:pPr marL="0" indent="0" algn="ctr">
              <a:buNone/>
            </a:pPr>
            <a:r>
              <a:rPr lang="en-IN" sz="1600" dirty="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  Apply safety rules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Step 6"/>
          <p:cNvSpPr/>
          <p:nvPr/>
        </p:nvSpPr>
        <p:spPr>
          <a:xfrm>
            <a:off x="5806440" y="315468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lIns="60000" tIns="30000" rIns="60000" bIns="30000" anchor="ctr" wrap="square">
            <a:normAutofit/>
          </a:bodyPr>
          <a:lstStyle/>
          <a:p>
            <a:pPr marL="0" indent="0" algn="ctr">
              <a:buNone/>
            </a:pPr>
            <a:r>
              <a:rPr lang="en-IN" sz="1600" dirty="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  Rank meals + explain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Step 7"/>
          <p:cNvSpPr/>
          <p:nvPr/>
        </p:nvSpPr>
        <p:spPr>
          <a:xfrm>
            <a:off x="3154680" y="315468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lIns="60000" tIns="30000" rIns="60000" bIns="30000" anchor="ctr" wrap="square">
            <a:normAutofit/>
          </a:bodyPr>
          <a:lstStyle/>
          <a:p>
            <a:pPr marL="0" indent="0" algn="ctr">
              <a:buNone/>
            </a:pPr>
            <a:r>
              <a:rPr lang="en-IN" sz="1600" dirty="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  Show result + correction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Arrow left"/>
          <p:cNvSpPr/>
          <p:nvPr/>
        </p:nvSpPr>
        <p:spPr>
          <a:xfrm>
            <a:off x="8211312" y="3438144"/>
            <a:ext cx="201168" cy="228600"/>
          </a:xfrm>
          <a:prstGeom prst="lef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</p:sp>
      <p:sp>
        <p:nvSpPr>
          <p:cNvPr id="18" name="Arrow left"/>
          <p:cNvSpPr/>
          <p:nvPr/>
        </p:nvSpPr>
        <p:spPr>
          <a:xfrm>
            <a:off x="5559552" y="3438144"/>
            <a:ext cx="201168" cy="228600"/>
          </a:xfrm>
          <a:prstGeom prst="lef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</p:sp>
      <p:sp>
        <p:nvSpPr>
          <p:cNvPr id="19" name="Flow note"/>
          <p:cNvSpPr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  <a:ln w="12700">
            <a:noFill/>
          </a:ln>
        </p:spPr>
        <p:txBody>
          <a:bodyPr vert="horz" lIns="60000" tIns="30000" rIns="60000" bIns="30000" anchor="ctr" wrap="square">
            <a:normAutofit/>
          </a:bodyPr>
          <a:lstStyle/>
          <a:p>
            <a:pPr marL="0" indent="0" algn="ctr">
              <a:buNone/>
            </a:pPr>
            <a:r>
              <a:rPr lang="en-IN" sz="1500" dirty="0" i="1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User correction updates the estimate and recommendation.</a:t>
            </a:r>
            <a:endParaRPr lang="en-IN" sz="1500" dirty="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ns5:creationId val="266130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14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4AE9EF7A-D100-228A-91F7-55D819A2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5F9A16D7-8892-69C5-8E3F-CA899A02E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Image &amp; Food Analyzer — detect foods and ingredients.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Portion &amp; Nutrient Engine — estimate grams and nutrients.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Safety &amp; Personalization — filter and rank suitable meals.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User Interface &amp; Feedback — explain, confirm, and correct.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ED121F08-AD64-6706-BBF1-E99AD8E1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244589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Modules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ns2:creationId id="{5E41F741-6C92-DBA8-8287-DCADD1E7CA3D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8997013" y="169256"/>
            <a:ext cx="2685321" cy="550457"/>
          </a:xfrm>
          <a:prstGeom prst="rect">
            <a:avLst/>
          </a:prstGeom>
        </p:spPr>
      </p:pic>
    </p:spTree>
    <p:extLst>
      <p:ext uri="{BB962C8B-B14F-4D97-AF65-F5344CB8AC3E}">
        <ns5:creationId val="3151414207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15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52D9ECAB-3179-9CCC-642A-5735C02C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E9343D4E-B5C1-D4D1-F90B-80F03B7E1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Confidence-aware image-to-nutrient pipeline.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Retrieval-grounded nutrients instead of LLM-only values.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Hard safety constraints separated from soft preferences.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Human correction and explanation as first-class features.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Designed for ordinary smartphone images and low-cost deployment.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53CB1A76-FD31-0CA0-94FE-FD7AFCC6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Proposed Idea / Project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ns2:creationId id="{34E27D2C-6F90-7DF9-AB19-4F214FE76D09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8799225" y="285778"/>
            <a:ext cx="2803161" cy="563562"/>
          </a:xfrm>
          <a:prstGeom prst="rect">
            <a:avLst/>
          </a:prstGeom>
        </p:spPr>
      </p:pic>
    </p:spTree>
    <p:extLst>
      <p:ext uri="{BB962C8B-B14F-4D97-AF65-F5344CB8AC3E}">
        <ns5:creationId val="3424103010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16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C2858223-842F-E06E-5A4A-6B7EEA7E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8B153325-B3C0-3BBC-88F7-6BC291541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Dataset: public food images plus a small local test set.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Tasks: recognition, portion estimation, and nutrient error.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Baselines: direct VLM, classifier, and the proposed modular pipeline.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Pilot: target 20 users; record corrections and acceptance.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Metrics: F1, MAE/MAPE, latency, safety violations, and usefulness.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6. Analyze failures by cuisine, lighting, and meal complexity.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A32D421F-1615-2669-0698-211111DAE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Experimentation</a:t>
            </a:r>
          </a:p>
        </p:txBody>
      </p:sp>
      <p:pic>
        <p:nvPicPr>
          <p:cNvPr id="5" name="Picture 4">
            <a:extLst>
              <a:ext uri="{FF2B5EF4-FFF2-40B4-BE49-F238E27FC236}">
                <ns2:creationId id="{CDC60FC0-D47B-5ADE-2B68-D06E7335D240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ns5:creationId val="2150593120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17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2FF23EDA-4E6D-78BF-B031-6B8E6D61F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520FB39F-7422-D5C9-C864-CC4236290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Current status: evaluation plan; no project test results are claimed yet.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Literature context: calorie error ranges from 0.10% to 38.3%; one VLM study reports 45.6% sMAPE.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Compare recognition, portion, calorie, and nutrient errors separately.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Success means transparent estimates, correctable outputs, and no hard-constraint violations.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Discussion will cover hidden oil, mixed dishes, database coverage, and confidence.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64961CD4-3E10-98EF-AD19-1669748F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and Discussion</a:t>
            </a:r>
          </a:p>
        </p:txBody>
      </p:sp>
      <p:pic>
        <p:nvPicPr>
          <p:cNvPr id="5" name="Picture 4">
            <a:extLst>
              <a:ext uri="{FF2B5EF4-FFF2-40B4-BE49-F238E27FC236}">
                <ns2:creationId id="{75FCADDA-D9E2-36EA-E944-564BB95DF6BD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ns5:creationId val="3967463539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18.xml><?xml version="1.0" encoding="utf-8"?>
<p:sld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 xmlns:p="http://schemas.openxmlformats.org/presentationml/2006/main">
  <p:cSld>
    <p:spTree>
      <p:nvGrpSpPr>
        <p:cNvPr id="1" name="">
          <a:extLst>
            <a:ext uri="{FF2B5EF4-FFF2-40B4-BE49-F238E27FC236}">
              <ns2:creationId id="{2789B8F1-05E9-07E3-39E6-5440FC9B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514C79AF-A4DC-60B2-2D45-0704C945A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A layered pipeline is more defensible than a single AI model.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Verified nutrients and safety rules must precede personalization.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User correction is essential for uncertain or high-risk meals.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Future work: larger datasets, depth sensing, multilingual cuisine support, and clinical validation.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The prototype is an educational support tool, not a diagnosis system.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69625804-55EE-9262-0513-B15AAAE3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Directions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ns2:creationId id="{81A1E605-EF66-503F-9EFE-62349AAAD9CE}"/>
              </a:ext>
            </a:extLst>
          </p:cNvPr>
          <p:cNvPicPr>
            <a:picLocks noChangeAspect="1"/>
          </p:cNvPicPr>
          <p:nvPr/>
        </p:nvPicPr>
        <p:blipFill>
          <a:blip ns3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ns5:creationId val="4207118935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19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 xmlns:ns6="http://schemas.openxmlformats.org/markup-compatibility/2006">
  <ns0:cSld>
    <ns0:spTree>
      <ns0:nvGrpSpPr>
        <ns0:cNvPr id="1" name="">
          <a:extLst>
            <a:ext uri="{FF2B5EF4-FFF2-40B4-BE49-F238E27FC236}">
              <ns2:creationId id="{FE8F67CF-4D55-95C9-8717-250E451EFB99}"/>
            </a:ext>
          </a:extLst>
        </ns0:cNvPr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Content Placeholder 1">
            <a:extLst>
              <a:ext uri="{FF2B5EF4-FFF2-40B4-BE49-F238E27FC236}">
                <ns2:creationId id="{AE26F7BD-3071-22EF-42C0-1D08731CDB40}"/>
              </a:ext>
            </a:extLst>
          </ns0:cNvPr>
          <ns0:cNvSpPr>
            <a:spLocks noGrp="1"/>
          </ns0:cNvSpPr>
          <ns0:nvPr>
            <ns0:ph idx="1"/>
          </ns0:nvPr>
        </ns0:nvSpPr>
        <ns0:spPr>
          <a:xfrm>
            <a:off x="411480" y="1325880"/>
            <a:ext cx="5623560" cy="4983480"/>
          </a:xfrm>
        </ns0:spPr>
        <ns0:txBody>
          <a:bodyPr vert="horz" lIns="60000" tIns="30000" rIns="60000" bIns="30000" anchor="t" wrap="square">
            <a:normAutofit/>
          </a:bodyPr>
          <a:lstStyle/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Dalakleidi et al. (2022). Applying Image-Based Food-Recognition Systems on Dietary Assessment: A Systematic Review. Advances in Nutrition, 13(6), 2590–2619. DOI: 10.1093/advances/nmac078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Stefanidis et al. (2022). PROTEIN AI Advisor: A Knowledge-Based Recommendation Framework Using Expert-Validated Meals for Healthy Diets. Nutrients, 14(20), 4435. DOI: 10.3390/nu14204435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Moyen et al. (2022). Relative Validation of an Artificial Intelligence–Enhanced, Image-Assisted Mobile App for Dietary Assessment in Adults: Randomized Crossover Study. Journal of Medical Internet Research, 24(11), e40449. DOI: 10.2196/40449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Shonkoff et al. (2023). AI-Based Digital Image Dietary Assessment Methods Compared to Humans and Ground Truth: A Systematic Review. Annals of Medicine, 55(2), 2273497. DOI: 10.1080/07853890.2023.2273497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Wu et al. (2024). OVFoodSeg: Elevating Open-Vocabulary Food Image Segmentation via Image-Informed Textual Representation. CVPR, 4144–4153. DOI: 10.1109/CVPR52733.2024.00397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6. Papathanail et al. (2023). The Nutritional Content of Meal Images in Free-Living Conditions—Automatic Assessment with goFOOD™. Nutrients, 15(17), 3835. DOI: 10.3390/nu15173835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7. Konstantakopoulos et al. (2023). An Automated Image-Based Dietary Assessment System for Mediterranean Foods. IEEE Open Journal of Engineering in Medicine and Biology, 4, 45–54. DOI: 10.1109/OJEMB.2023.3266135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8. Amiri, Li and Hasan (2023). Personalized Flexible Meal Planning for Individuals With Diet-Related Health Concerns: System Design and Feasibility Validation Study. JMIR Formative Research, 7, e46434. DOI: 10.2196/46434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9. Romero-Tapiador et al. (2025). Are Vision-Language Models Ready for Dietary Assessment? Exploring the Next Frontier in AI-Powered Food Image Recognition. CVPR Workshops, 430–439. DOI: 10.1109/CVPRW67362.2025.00047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10. Zhao et al. (2024). Visual Nutrition Analysis: Leveraging Segmentation and Regression for Food Nutrient Estimation. Frontiers in Nutrition, 11, 1469878. DOI: 10.3389/fnut.2024.1469878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</ns0:txBody>
      </ns0:sp>
      <ns0:sp>
        <ns0:nvSpPr>
          <ns0:cNvPr id="3" name="Title 2">
            <a:extLst>
              <a:ext uri="{FF2B5EF4-FFF2-40B4-BE49-F238E27FC236}">
                <ns2:creationId id="{14F7B8BB-F1A9-CAAC-6E94-84B65B0E7A0B}"/>
              </a:ext>
            </a:extLst>
          </ns0:cNvPr>
          <ns0:cNvSpPr>
            <a:spLocks noGrp="1"/>
          </ns0:cNvSpPr>
          <ns0:nvPr>
            <ns0:ph type="title"/>
          </ns0:nvPr>
        </ns0:nvSpPr>
        <ns0:spPr>
          <a:xfrm>
            <a:off x="792106" y="138036"/>
            <a:ext cx="10972800" cy="563562"/>
          </a:xfrm>
        </ns0:spPr>
        <ns0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ns0:txBody>
      </ns0:sp>
      <ns0:pic>
        <ns0:nvPicPr>
          <ns0:cNvPr id="5" name="Picture 4">
            <a:extLst>
              <a:ext uri="{FF2B5EF4-FFF2-40B4-BE49-F238E27FC236}">
                <ns2:creationId id="{9614CC03-5AC2-8C76-DAFE-BA60BA1CF8FA}"/>
              </a:ext>
            </a:extLst>
          </ns0:cNvPr>
          <ns0:cNvPicPr>
            <a:picLocks noChangeAspect="1"/>
          </ns0:cNvPicPr>
          <ns0:nvPr/>
        </ns0:nvPicPr>
        <ns0:blipFill>
          <a:blip ns3:embed="rId3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ns0:blipFill>
        <ns0:spPr>
          <a:xfrm>
            <a:off x="9396751" y="214280"/>
            <a:ext cx="2535420" cy="487318"/>
          </a:xfrm>
          <a:prstGeom prst="rect">
            <a:avLst/>
          </a:prstGeom>
        </ns0:spPr>
      </ns0:pic>
      <ns0:sp>
        <ns0:nvSpPr>
          <ns0:cNvPr id="20" name="References Right">
            <a:extLst>
              <a:ext uri="{FF2B5EF4-FFF2-40B4-BE49-F238E27FC236}">
                <ns2:creationId id="{AE26F7BD-3071-22EF-42C0-1D08731CDB40}"/>
              </a:ext>
            </a:extLst>
          </ns0:cNvPr>
          <ns0:cNvSpPr>
            <a:spLocks noGrp="1"/>
          </ns0:cNvSpPr>
          <ns0:nvPr/>
        </ns0:nvSpPr>
        <ns0:spPr>
          <a:xfrm>
            <a:off x="6172200" y="1325880"/>
            <a:ext cx="5623560" cy="4983480"/>
          </a:xfrm>
        </ns0:spPr>
        <ns0:txBody>
          <a:bodyPr vert="horz" lIns="60000" tIns="30000" rIns="60000" bIns="30000" anchor="t" wrap="square">
            <a:normAutofit/>
          </a:bodyPr>
          <a:lstStyle/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11. Papastratis et al. (2024). AI Nutrition Recommendation Using a Deep Generative Model and ChatGPT. Scientific Reports, 14, 14620. DOI: 10.1038/s41598-024-65438-x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12. Yang et al. (2024). ChatDiet: Empowering Personalized Nutrition-Oriented Food Recommender Chatbots Through an LLM-Augmented Framework. Smart Health, 32, 100465. DOI: 10.1016/j.smhl.2024.100465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13. Amiri, Rad and Li (2024). Delighting Palates with AI: Reinforcement Learning’s Triumph in Crafting Personalized Meal Plans with High User Acceptance. Nutrients, 16(3), 346. DOI: 10.3390/nu16030346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14. Yan et al. (2025). DietAI24 as a Framework for Comprehensive Nutrition Estimation Using Multimodal Large Language Models. Communications Medicine, 5, 458. DOI: 10.1038/s43856-025-01159-0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15. O’Hara et al. (2025). An Evaluation of ChatGPT for Nutrient Content Estimation from Meal Photographs. Nutrients, 17(4), 607. DOI: 10.3390/nu17040607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16. Khlaisamniang et al. (2025). Decomposing Food Images for Better Nutrition Analysis: A Nutritionist-Inspired Two-Step Multimodal LLM Approach. CVPR Workshops, 482–491. DOI: 10.1109/CVPRW67362.2025.00053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17. Zhang et al. (2025). MOPI-HFRS: A Multi-objective Personalized Health-aware Food Recommendation System with LLM-enhanced Interpretation. ACM SIGKDD, 2860–2871. DOI: 10.1145/3690624.3709382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18. Wang et al. (2026). Development of an Intelligent Food Nutrition Recognition and Nutrient Intake Assessment System in Hospital Settings. Frontiers in Nutrition, 13, 1637034. DOI: 10.3389/fnut.2026.1637034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19. Vedovelli et al. (2026). Model Architecture Dominates Nutritional Estimation Accuracy in Vision-Language Systems. Scientific Reports, 16, 29227. DOI: 10.1038/s41598-026-58755-w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20. Serra et al. (2026). Limited Validity of an AI-Powered App for Dietary Assessment in Females with Obesity. npj Digital Medicine, 9, 357. DOI: 10.1038/s41746-026-02536-2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</ns0:txBody>
      </ns0:sp>
    </ns0:spTree>
    <ns0:extLst>
      <ns0:ext uri="{BB962C8B-B14F-4D97-AF65-F5344CB8AC3E}">
        <ns5:creationId val="3377631291"/>
      </ns0:ext>
    </ns0:extLst>
  </ns0:cSld>
  <ns0:clrMapOvr>
    <a:masterClrMapping/>
  </ns0:clrMapOvr>
  <ns6:AlternateContent>
    <ns6:Choice Requires="p14">
      <ns0:transition spd="slow" ns5:dur="2000">
        <ns5:prism isContent="1"/>
      </ns0:transition>
    </ns6:Choice>
    <ns6:Fallback>
      <ns0:transition spd="slow">
        <ns0:fade/>
      </ns0:transition>
    </ns6:Fallback>
  </ns6:AlternateContent>
</ns0:sld>
</file>

<file path=ppt/slides/slide20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ns6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BA7B1E9D-08D2-E426-5B22-3AC2930F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3957C60A-FBDF-9BB5-4528-95592F911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17320"/>
            <a:ext cx="1051560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Prototype pseudocode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image = load_meal_image()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foods = detect_food_and_portions(image)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nutrients = lookup_verified_database(foods)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safe = apply_allergy_and_medical_rules(nutrients, profile)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plan = rank_by_preferences(safe, profile)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return explain_with_confidence(plan)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if confidence &lt; threshold: ask_user_to_confirm_or_correct()</a:t>
            </a:r>
            <a:endParaRPr lang="en-IN" sz="17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D11D1431-CBB1-2E8B-9D61-C266D7E3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(Sample of the Source Code)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ns2:creationId id="{EC9D29C0-805E-09D5-FBBC-105D2D7A2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034614" y="138036"/>
            <a:ext cx="2730292" cy="595428"/>
          </a:xfrm>
          <a:prstGeom prst="rect">
            <a:avLst/>
          </a:prstGeom>
        </p:spPr>
      </p:pic>
    </p:spTree>
    <p:extLst>
      <p:ext uri="{BB962C8B-B14F-4D97-AF65-F5344CB8AC3E}">
        <ns5:creationId val="3059336372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21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ns6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52915CE2-0FCE-C10F-147E-1C0000F53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0B356C37-CB3A-0542-A650-FDC3D5A9D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17320"/>
            <a:ext cx="1078992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Paper title: AI-Based Smart Meal Analyzer and Personalized Nutrition Recommendation System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Course: E1CSA313/E1ITA306 Design Project - 1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Team members: [Name / Register No]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Mentor: [Name]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Submission package: abstract, literature review, methodology, results, conclusion, and references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Status: attach the final similarity report before submission.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BFD1F075-A6AF-DC0E-0383-CB3781E97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Submission Page of the Paper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ns2:creationId id="{CD3C8A54-DB36-4EFB-9F5E-BC062E18F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129010" y="138036"/>
            <a:ext cx="2635896" cy="563562"/>
          </a:xfrm>
          <a:prstGeom prst="rect">
            <a:avLst/>
          </a:prstGeom>
        </p:spPr>
      </p:pic>
    </p:spTree>
    <p:extLst>
      <p:ext uri="{BB962C8B-B14F-4D97-AF65-F5344CB8AC3E}">
        <ns5:creationId val="2649194420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22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ns6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ns2:creationId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17320"/>
            <a:ext cx="1078992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Status: final similarity check pending.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the 20 verified papers as the reference set.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Cite authors, year, venue, and DOI for every borrowed idea.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Run the university-approved similarity checker.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Attach the report and resolve flagged text before submission.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 not submit copied wording or unreferenced code.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ns2:creationId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34333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Report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ns2:creationId id="{EF45E307-6A9E-5159-8B35-ADF54C109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9321800" y="138036"/>
            <a:ext cx="2445479" cy="563562"/>
          </a:xfrm>
          <a:prstGeom prst="rect">
            <a:avLst/>
          </a:prstGeom>
        </p:spPr>
      </p:pic>
    </p:spTree>
    <p:extLst>
      <p:ext uri="{BB962C8B-B14F-4D97-AF65-F5344CB8AC3E}">
        <ns5:creationId val="3059570066"/>
      </p:ext>
    </p:extLst>
  </p:cSld>
  <p:clrMapOvr>
    <a:masterClrMapping/>
  </p:clrMapOvr>
  <ns6:AlternateContent>
    <ns6:Choice Requires="p14">
      <p:transition spd="slow" ns5:dur="2000">
        <ns5:prism isContent="1"/>
      </p:transition>
    </ns6:Choice>
    <ns6:Fallback>
      <p:transition spd="slow">
        <p:fade/>
      </p:transition>
    </ns6:Fallback>
  </ns6:AlternateContent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ns5="http://schemas.microsoft.com/office/drawing/2010/main" xmlns:ns6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C906A4B2-586E-4C82-BD66-5072347EC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5C37BED9-2223-432E-969D-9056194A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  <a:normAutofit/>
          </a:bodyPr>
          <a:lstStyle/>
          <a:p>
            <a:pPr marL="0" indent="0" algn="l">
              <a:buNone/>
            </a:pPr>
            <a:r>
              <a:rPr lang="en-IN" sz="3200" dirty="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ns2:creationId id="{76A0A60B-2571-4E09-96C2-F25CC45EE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179378642"/>
              </p:ext>
            </p:extLst>
          </p:nvPr>
        </p:nvGraphicFramePr>
        <p:xfrm>
          <a:off x="427703" y="1135626"/>
          <a:ext cx="11356929" cy="489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ns2:colId val="3476363090"/>
                    </a:ext>
                  </a:extLst>
                </a:gridCol>
                <a:gridCol w="2580968">
                  <a:extLst>
                    <a:ext uri="{9D8B030D-6E8A-4147-A177-3AD203B41FA5}">
                      <ns2:colId val="3690190586"/>
                    </a:ext>
                  </a:extLst>
                </a:gridCol>
                <a:gridCol w="2249940">
                  <a:extLst>
                    <a:ext uri="{9D8B030D-6E8A-4147-A177-3AD203B41FA5}">
                      <ns2:colId val="363996245"/>
                    </a:ext>
                  </a:extLst>
                </a:gridCol>
                <a:gridCol w="1837749">
                  <a:extLst>
                    <a:ext uri="{9D8B030D-6E8A-4147-A177-3AD203B41FA5}">
                      <ns2:colId val="3098826648"/>
                    </a:ext>
                  </a:extLst>
                </a:gridCol>
                <a:gridCol w="2024287">
                  <a:extLst>
                    <a:ext uri="{9D8B030D-6E8A-4147-A177-3AD203B41FA5}">
                      <ns2:colId val="646655925"/>
                    </a:ext>
                  </a:extLst>
                </a:gridCol>
                <a:gridCol w="1956062">
                  <a:extLst>
                    <a:ext uri="{9D8B030D-6E8A-4147-A177-3AD203B41FA5}">
                      <ns2:colId val="923233871"/>
                    </a:ext>
                  </a:extLst>
                </a:gridCol>
              </a:tblGrid>
              <a:tr h="1087060"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891171937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Wu et al. (2024)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detection for unfamiliar ingredients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Reported gains: +4.9/+3.5 points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Handles unfamiliar ingredients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Paper reports mixed values; no portion/nutrient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Papathanail et al. (2023)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recognition + portions + database; 49 adults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Fine top-1: 58.7%; energy error 27.4% vs recall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Practical image-to-nutrient workflow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sample; hidden oil; recall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Konstantakopoulos et al. (2023)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Two images + reference card; volume estimate; 148 dishes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Top recognition: 83.8%; volume error 10.5%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Volume estimate for a specific cuisine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Needs two images/card; no nutrient error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Amiri et al. (2023)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Safety rules + ranking; 39 adults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Helpful: 38/39; saved time: 37/39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Safety separate from preference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sample; no health-outcome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ns2:creationId id="{BF3CE074-B917-4BEB-9352-B325DE7B3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ns3:creationId val="95257650"/>
      </p:ext>
    </p:extLst>
  </p:cSld>
  <p:clrMapOvr>
    <a:masterClrMapping/>
  </p:clrMapOvr>
  <ns6:AlternateContent>
    <ns6:Choice Requires="p14">
      <p:transition spd="slow" ns3:dur="2000">
        <ns3:prism isContent="1"/>
      </p:transition>
    </ns6:Choice>
    <ns6:Fallback>
      <p:transition spd="slow">
        <p:fade/>
      </p:transition>
    </ns6:Fallback>
  </ns6:AlternateContent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ns5="http://schemas.microsoft.com/office/drawing/2010/main" xmlns:ns6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F1A17F2C-4286-47D7-9552-B0238679F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D3528561-2C78-48AB-ABE8-7839342E2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  <a:normAutofit/>
          </a:bodyPr>
          <a:lstStyle/>
          <a:p>
            <a:pPr marL="0" indent="0" algn="l">
              <a:buNone/>
            </a:pPr>
            <a:r>
              <a:rPr lang="en-IN" sz="3200" dirty="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ns2:creationId id="{AF10FE5D-776C-4AF1-A4A5-CCF0E1231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179378642"/>
              </p:ext>
            </p:extLst>
          </p:nvPr>
        </p:nvGraphicFramePr>
        <p:xfrm>
          <a:off x="427703" y="1135626"/>
          <a:ext cx="11356929" cy="489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ns2:colId val="3476363090"/>
                    </a:ext>
                  </a:extLst>
                </a:gridCol>
                <a:gridCol w="2580968">
                  <a:extLst>
                    <a:ext uri="{9D8B030D-6E8A-4147-A177-3AD203B41FA5}">
                      <ns2:colId val="3690190586"/>
                    </a:ext>
                  </a:extLst>
                </a:gridCol>
                <a:gridCol w="2249940">
                  <a:extLst>
                    <a:ext uri="{9D8B030D-6E8A-4147-A177-3AD203B41FA5}">
                      <ns2:colId val="363996245"/>
                    </a:ext>
                  </a:extLst>
                </a:gridCol>
                <a:gridCol w="1837749">
                  <a:extLst>
                    <a:ext uri="{9D8B030D-6E8A-4147-A177-3AD203B41FA5}">
                      <ns2:colId val="3098826648"/>
                    </a:ext>
                  </a:extLst>
                </a:gridCol>
                <a:gridCol w="2024287">
                  <a:extLst>
                    <a:ext uri="{9D8B030D-6E8A-4147-A177-3AD203B41FA5}">
                      <ns2:colId val="646655925"/>
                    </a:ext>
                  </a:extLst>
                </a:gridCol>
                <a:gridCol w="1956062">
                  <a:extLst>
                    <a:ext uri="{9D8B030D-6E8A-4147-A177-3AD203B41FA5}">
                      <ns2:colId val="923233871"/>
                    </a:ext>
                  </a:extLst>
                </a:gridCol>
              </a:tblGrid>
              <a:tr h="1087060"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891171937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Romero-Tapiador et al. (2025)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Six vision-language models; 9,263 images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Gemini recognition: 70.2% average; 50.0% with cooking style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Large labeled benchmark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Recognition only; no nutrient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Zhao et al. (2024)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detection + nutrient prediction; 3,224 images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Food-region overlap: 97.69%; benchmark calorie error 15.68%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Predicts several nutrients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Controlled images; limited cuisine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Papastratis et al. (2024)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Fast planner; virtual + real profiles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Nutrition-target agreement: 87% virtual; 84% real; about 0.5 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Fast plans with nutrition limits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Mostly virtual; no real-user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Yang et al. (2024)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Personal data + food lookup + chatbot; 400 pairs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92% manually judged correct; 400 synthetic pairs; one-person case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Explains personal recommendations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Mostly synthetic; depends on assumptions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ns2:creationId id="{D8A1167D-8024-4834-AF6D-17F718FCC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ns3:creationId val="95257650"/>
      </p:ext>
    </p:extLst>
  </p:cSld>
  <p:clrMapOvr>
    <a:masterClrMapping/>
  </p:clrMapOvr>
  <ns6:AlternateContent>
    <ns6:Choice Requires="p14">
      <p:transition spd="slow" ns3:dur="2000">
        <ns3:prism isContent="1"/>
      </p:transition>
    </ns6:Choice>
    <ns6:Fallback>
      <p:transition spd="slow">
        <p:fade/>
      </p:transition>
    </ns6:Fallback>
  </ns6:AlternateContent>
</p:sld>
</file>

<file path=ppt/slides/slide25.xml><?xml version="1.0" encoding="utf-8"?>
<p:sld xmlns:a="http://schemas.openxmlformats.org/drawingml/2006/main" xmlns:ns2="http://schemas.microsoft.com/office/drawing/2014/main" xmlns:ns3="http://schemas.microsoft.com/office/powerpoint/2010/main" xmlns:ns5="http://schemas.microsoft.com/office/drawing/2010/main" xmlns:ns6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2977FF15-39B1-4A97-98CC-2D1B9A1F0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C56E7C8E-23E2-412B-B68E-E23A8285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  <a:normAutofit/>
          </a:bodyPr>
          <a:lstStyle/>
          <a:p>
            <a:pPr marL="0" indent="0" algn="l">
              <a:buNone/>
            </a:pPr>
            <a:r>
              <a:rPr lang="en-IN" sz="3200" dirty="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ns2:creationId id="{5E77B300-BD8A-41DB-B12B-54560D162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179378642"/>
              </p:ext>
            </p:extLst>
          </p:nvPr>
        </p:nvGraphicFramePr>
        <p:xfrm>
          <a:off x="427703" y="1135626"/>
          <a:ext cx="11356929" cy="489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ns2:colId val="3476363090"/>
                    </a:ext>
                  </a:extLst>
                </a:gridCol>
                <a:gridCol w="2580968">
                  <a:extLst>
                    <a:ext uri="{9D8B030D-6E8A-4147-A177-3AD203B41FA5}">
                      <ns2:colId val="3690190586"/>
                    </a:ext>
                  </a:extLst>
                </a:gridCol>
                <a:gridCol w="2249940">
                  <a:extLst>
                    <a:ext uri="{9D8B030D-6E8A-4147-A177-3AD203B41FA5}">
                      <ns2:colId val="363996245"/>
                    </a:ext>
                  </a:extLst>
                </a:gridCol>
                <a:gridCol w="1837749">
                  <a:extLst>
                    <a:ext uri="{9D8B030D-6E8A-4147-A177-3AD203B41FA5}">
                      <ns2:colId val="3098826648"/>
                    </a:ext>
                  </a:extLst>
                </a:gridCol>
                <a:gridCol w="2024287">
                  <a:extLst>
                    <a:ext uri="{9D8B030D-6E8A-4147-A177-3AD203B41FA5}">
                      <ns2:colId val="646655925"/>
                    </a:ext>
                  </a:extLst>
                </a:gridCol>
                <a:gridCol w="1956062">
                  <a:extLst>
                    <a:ext uri="{9D8B030D-6E8A-4147-A177-3AD203B41FA5}">
                      <ns2:colId val="923233871"/>
                    </a:ext>
                  </a:extLst>
                </a:gridCol>
              </a:tblGrid>
              <a:tr h="1087060"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891171937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Amiri et al. (2024)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Ratings + feedback; 180,000 recipes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Nutrition score 0.90; preference 0.84; acceptance 4.5/5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Adds taste and feedback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Offline; no allergy safety; basic model matched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Yan et al. (2025)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Image → food names → food-database lookup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energy error: 47.7 / 68.2 kcal (two test sets)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food data, not model memory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U.S.-centric; closed model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O’Hara et al. (2025)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ChatGPT-4; 38 weighed meals; 16 nutrients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Recognition 88.6%; mean absolute difference: weight 27.8%; nutrients 26.9%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chatbot nutrient bias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sample; no food database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Khlaisamniang et al. (2025)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Identify food/portions; get nutrients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GPT-4o: 78.49 kcal error; 12.11% better than one-step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step-by-step reasoning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Hidden ingredients; Gindee result differs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ns2:creationId id="{69214032-00E0-4045-9CCC-DFF25B5FC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ns3:creationId val="95257650"/>
      </p:ext>
    </p:extLst>
  </p:cSld>
  <p:clrMapOvr>
    <a:masterClrMapping/>
  </p:clrMapOvr>
  <ns6:AlternateContent>
    <ns6:Choice Requires="p14">
      <p:transition spd="slow" ns3:dur="2000">
        <ns3:prism isContent="1"/>
      </p:transition>
    </ns6:Choice>
    <ns6:Fallback>
      <p:transition spd="slow">
        <p:fade/>
      </p:transition>
    </ns6:Fallback>
  </ns6:AlternateContent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ns5="http://schemas.microsoft.com/office/drawing/2010/main" xmlns:ns6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1210B264-8B68-4C08-84E5-BE2C9296E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ns2:creationId id="{C0EA682D-70E5-4ADD-A5F7-5A3CB6DD9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  <a:normAutofit/>
          </a:bodyPr>
          <a:lstStyle/>
          <a:p>
            <a:pPr marL="0" indent="0" algn="l">
              <a:buNone/>
            </a:pPr>
            <a:r>
              <a:rPr lang="en-IN" sz="3200" dirty="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ns2:creationId id="{DFE7F002-3DC8-4217-81E6-552C73FFB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4179378642"/>
              </p:ext>
            </p:extLst>
          </p:nvPr>
        </p:nvGraphicFramePr>
        <p:xfrm>
          <a:off x="427703" y="1135626"/>
          <a:ext cx="11356929" cy="489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ns2:colId val="3476363090"/>
                    </a:ext>
                  </a:extLst>
                </a:gridCol>
                <a:gridCol w="2580968">
                  <a:extLst>
                    <a:ext uri="{9D8B030D-6E8A-4147-A177-3AD203B41FA5}">
                      <ns2:colId val="3690190586"/>
                    </a:ext>
                  </a:extLst>
                </a:gridCol>
                <a:gridCol w="2249940">
                  <a:extLst>
                    <a:ext uri="{9D8B030D-6E8A-4147-A177-3AD203B41FA5}">
                      <ns2:colId val="363996245"/>
                    </a:ext>
                  </a:extLst>
                </a:gridCol>
                <a:gridCol w="1837749">
                  <a:extLst>
                    <a:ext uri="{9D8B030D-6E8A-4147-A177-3AD203B41FA5}">
                      <ns2:colId val="3098826648"/>
                    </a:ext>
                  </a:extLst>
                </a:gridCol>
                <a:gridCol w="2024287">
                  <a:extLst>
                    <a:ext uri="{9D8B030D-6E8A-4147-A177-3AD203B41FA5}">
                      <ns2:colId val="646655925"/>
                    </a:ext>
                  </a:extLst>
                </a:gridCol>
                <a:gridCol w="1956062">
                  <a:extLst>
                    <a:ext uri="{9D8B030D-6E8A-4147-A177-3AD203B41FA5}">
                      <ns2:colId val="923233871"/>
                    </a:ext>
                  </a:extLst>
                </a:gridCol>
              </a:tblGrid>
              <a:tr h="1087060"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3891171937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Zhang et al. (2025)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Health data + preference ranking + explanations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Offline ranking/diversity; no clinical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Combines health and preference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dataset; fixed tags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Wang et al. (2026)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Color + depth images + markers + weighing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recognition 99.2%; reported volume ratio 85.4%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Controlled, recorded meals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Hospital-only; volume values differ; no patient-outcome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Vedovelli et al. (2026)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 vision-language models; seven prompts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benchmark error: 45.6%; architecture explains 99.6% of variation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choice matters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clinical; provider effects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  <a:tr h="950827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Serra et al. (2026)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SNAQ; 20 women; doubly labelled water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Energy bias: −817 kcal/day; association near zero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Stronger reference method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female sample; estimated intake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ns2:rowId val="86337169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ns2:creationId id="{7D444838-CF7C-45F3-B0CD-D20F448F8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5:useLocalDpi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ns3:creationId val="95257650"/>
      </p:ext>
    </p:extLst>
  </p:cSld>
  <p:clrMapOvr>
    <a:masterClrMapping/>
  </p:clrMapOvr>
  <ns6:AlternateContent>
    <ns6:Choice Requires="p14">
      <p:transition spd="slow" ns3:dur="2000">
        <ns3:prism isContent="1"/>
      </p:transition>
    </ns6:Choice>
    <ns6:Fallback>
      <p:transition spd="slow">
        <p:fade/>
      </p:transition>
    </ns6:Fallback>
  </ns6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ns0:Properties xmlns:ns0="http://schemas.openxmlformats.org/officeDocument/2006/extended-properties" xmlns:vt="http://schemas.openxmlformats.org/officeDocument/2006/docPropsVTypes">
  <ns0:Template/>
  <ns0:TotalTime>112</ns0:TotalTime>
  <ns0:Words>471</ns0:Words>
  <ns0:Application>Microsoft Office PowerPoint</ns0:Application>
  <ns0:PresentationFormat>Widescreen</ns0:PresentationFormat>
  <ns0:Paragraphs>95</ns0:Paragraphs>
  <ns0:Slides>26</ns0:Slides>
  <ns0:Notes>1</ns0:Notes>
  <ns0:HiddenSlides>0</ns0:HiddenSlides>
  <ns0:MMClips>0</ns0:MMClips>
  <ns0:ScaleCrop>false</ns0:ScaleCrop>
  <ns0: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ns0:HeadingPairs>
  <ns0:TitlesOfParts>
    <vt:vector size="32" baseType="lpstr">
      <vt:lpstr>Aptos</vt:lpstr>
      <vt:lpstr>Arial</vt:lpstr>
      <vt:lpstr>Bookman Old Style</vt:lpstr>
      <vt:lpstr>Calibri</vt:lpstr>
      <vt:lpstr>Times New Roman</vt:lpstr>
      <vt:lpstr>Office Theme</vt:lpstr>
      <vt:lpstr>PowerPoint Presentation</vt:lpstr>
      <vt:lpstr> Agenda  </vt:lpstr>
      <vt:lpstr>Introduction</vt:lpstr>
      <vt:lpstr>Review of literature</vt:lpstr>
      <vt:lpstr>Review of literature</vt:lpstr>
      <vt:lpstr>Review of literature</vt:lpstr>
      <vt:lpstr>Review of literature</vt:lpstr>
      <vt:lpstr>Review of literature</vt:lpstr>
      <vt:lpstr>Observations from the Literature Review</vt:lpstr>
      <vt:lpstr>Limitations from the Literature Review</vt:lpstr>
      <vt:lpstr>Problem Statement / Scope of the Project</vt:lpstr>
      <vt:lpstr>Proposed Idea / Solution</vt:lpstr>
      <vt:lpstr>Objectives of the Idea / Solution as Design Project</vt:lpstr>
      <vt:lpstr>Proposed Research / Methodology</vt:lpstr>
      <vt:lpstr>Hardware Requirements</vt:lpstr>
      <vt:lpstr> Software Requirements</vt:lpstr>
      <vt:lpstr> Process / Flow / Design Diagram</vt:lpstr>
      <vt:lpstr> Proposed Modules</vt:lpstr>
      <vt:lpstr> Novelty of the Proposed Idea / Project</vt:lpstr>
      <vt:lpstr> Experimentation</vt:lpstr>
      <vt:lpstr> Results and Discussion</vt:lpstr>
      <vt:lpstr> Conclusion &amp; Future Directions</vt:lpstr>
      <vt:lpstr> References  </vt:lpstr>
      <vt:lpstr>   Implementation (Sample of the Source Code) </vt:lpstr>
      <vt:lpstr>   Submission Page of the Paper </vt:lpstr>
      <vt:lpstr>  Plagiarism Report </vt:lpstr>
    </vt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M Selvam</cp:lastModifiedBy>
  <cp:revision>18</cp:revision>
  <cp:lastPrinted>2020-11-26T03:04:06Z</cp:lastPrinted>
  <dcterms:created xsi:type="dcterms:W3CDTF">2008-12-05T06:42:08Z</dcterms:created>
  <dcterms:modified xsi:type="dcterms:W3CDTF">2026-09-09T10:45:01Z</dcterms:modified>
</cp:coreProperties>
</file>