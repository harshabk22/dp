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8"/>
  </p:notesMasterIdLst>
  <p:handoutMasterIdLst>
    <p:handoutMasterId r:id="rId29"/>
  </p:handoutMasterIdLst>
  <p:sldIdLst>
    <p:sldId id="507" r:id="rId2"/>
    <p:sldId id="1027" r:id="rId3"/>
    <p:sldId id="1012" r:id="rId4"/>
    <p:sldId id="1013" r:id="rId5"/>
    <p:sldId id="1046" r:id="rId6"/>
    <p:sldId id="1047" r:id="rId7"/>
    <p:sldId id="1048" r:id="rId8"/>
    <p:sldId id="1049" r:id="rId9"/>
    <p:sldId id="1014" r:id="rId10"/>
    <p:sldId id="1015" r:id="rId11"/>
    <p:sldId id="1034" r:id="rId12"/>
    <p:sldId id="1036" r:id="rId13"/>
    <p:sldId id="1037" r:id="rId14"/>
    <p:sldId id="1011" r:id="rId15"/>
    <p:sldId id="1026" r:id="rId16"/>
    <p:sldId id="1033" r:id="rId17"/>
    <p:sldId id="1038" r:id="rId18"/>
    <p:sldId id="1039" r:id="rId19"/>
    <p:sldId id="1040" r:id="rId20"/>
    <p:sldId id="1044" r:id="rId21"/>
    <p:sldId id="1045" r:id="rId22"/>
    <p:sldId id="1041" r:id="rId23"/>
    <p:sldId id="1025" r:id="rId24"/>
    <p:sldId id="1042" r:id="rId25"/>
    <p:sldId id="1043" r:id="rId26"/>
    <p:sldId id="1035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012"/>
    <p:restoredTop sz="94651"/>
  </p:normalViewPr>
  <p:slideViewPr>
    <p:cSldViewPr snapToGrid="0">
      <p:cViewPr>
        <p:scale>
          <a:sx n="78" d="100"/>
          <a:sy n="78" d="100"/>
        </p:scale>
        <p:origin x="3768" y="1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HarshaVardhan BK       2411021061475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Praveen Kumar G         2411021061449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Vikas Jadhav                 2411021061485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Kushal R                       2411021061474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b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Ms. Saswati Debnath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Meal images are easy to capture, but reliable nutrient estimates remain difficult.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Users need portion-aware estimates, verified food data, and recommendations that respect allergies, health conditions, and preferences.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This project combines computer vision, food-composition lookup, safety rules, and personalized ranking in one transparent workflow.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Goal: build a clear, low-cost prototype that shows its evidence and allows user correction.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24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941357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9942949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94103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8719725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3336433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351168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85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6159393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509977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676356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93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8788093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21947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409160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68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4918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7592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94304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1006138" cy="2596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Problem: Existing apps often recognize foods but do not provide transparent, portion-aware nutrient estimates.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Scope: Image capture → food/portion analysis → verified nutrient lookup → safety filtering → personalized recommendations.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Include: User profile, allergies, dietary preferences, confidence scores, and correction controls.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Exclude: Medical diagnosis, treatment plans, and unsupported clinical claims.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Deliverable: A simple prototype for general nutrition support and dietetic consultation.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The gap our system addresses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Existing apps"/>
          <p:cNvSpPr/>
          <p:nvPr/>
        </p:nvSpPr>
        <p:spPr>
          <a:xfrm>
            <a:off x="685800" y="4069080"/>
            <a:ext cx="2971800" cy="9601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Existing apps — recognize food, stop there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373075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urrent gap"/>
          <p:cNvSpPr/>
          <p:nvPr/>
        </p:nvSpPr>
        <p:spPr>
          <a:xfrm>
            <a:off x="4069080" y="4069080"/>
            <a:ext cx="2971800" cy="96012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Current gap — no portion-aware, transparent estimate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711403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his project"/>
          <p:cNvSpPr/>
          <p:nvPr/>
        </p:nvSpPr>
        <p:spPr>
          <a:xfrm>
            <a:off x="7452360" y="4069080"/>
            <a:ext cx="2971800" cy="9601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This project — evidence, safety, correction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In scope"/>
          <p:cNvSpPr/>
          <p:nvPr/>
        </p:nvSpPr>
        <p:spPr>
          <a:xfrm>
            <a:off x="685800" y="5440680"/>
            <a:ext cx="5120640" cy="5029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IN SCOPE  Image → nutrients → safe recommendations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Out of scope"/>
          <p:cNvSpPr/>
          <p:nvPr/>
        </p:nvSpPr>
        <p:spPr>
          <a:xfrm>
            <a:off x="5989320" y="5440680"/>
            <a:ext cx="512064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OUT OF SCOPE  Diagnosis, treatment, clinical claims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59"/>
            <a:ext cx="10972800" cy="26974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layered, human-in-the-loop system: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Capture one meal image and check image quality.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Detect foods/ingredients and estimate portions.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nutrients from a verified food-composition database.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allergy, medical, religious, and preference constraints.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Rank suitable foods and explain the nutrient rationale.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7490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Three layers, one order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easure layer"/>
          <p:cNvSpPr/>
          <p:nvPr/>
        </p:nvSpPr>
        <p:spPr>
          <a:xfrm>
            <a:off x="914400" y="4114799"/>
            <a:ext cx="9875520" cy="566928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MEASURE  •  capture • quality check • food + portion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715000" y="47274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ound layer"/>
          <p:cNvSpPr/>
          <p:nvPr/>
        </p:nvSpPr>
        <p:spPr>
          <a:xfrm>
            <a:off x="914400" y="5029200"/>
            <a:ext cx="9875520" cy="566928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GROUND  •  verified food database → nutrients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715000" y="56418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 layer"/>
          <p:cNvSpPr/>
          <p:nvPr/>
        </p:nvSpPr>
        <p:spPr>
          <a:xfrm>
            <a:off x="914400" y="5943600"/>
            <a:ext cx="9875520" cy="566928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CONSTRAIN &amp; PERSONALISE  •  safety rules → ranking → explanation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"/>
          <p:cNvSpPr/>
          <p:nvPr/>
        </p:nvSpPr>
        <p:spPr>
          <a:xfrm>
            <a:off x="914400" y="6583680"/>
            <a:ext cx="98755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Hard constraints always come before soft preferences.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Build an image-based meal analysis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Estimate food identity and portion with confidence indicators.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Calculate calories and macronutrients from verified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Enforce allergy and medical constraints before ranking foods.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accuracy, usability, latency, and recommendation safety.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0972800" cy="228600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Select public food-image datasets and a verified food-composition source.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Preprocess images and run food/ingredient recognition with portion estimation.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calories and nutrients from the food database.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safety rules and preference-based ranking.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on held-out images and a small user pilot; report errors, speed, and safety violations.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5204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Research phases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Phase"/>
          <p:cNvSpPr/>
          <p:nvPr/>
        </p:nvSpPr>
        <p:spPr>
          <a:xfrm>
            <a:off x="59436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  Data + sources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Phase"/>
          <p:cNvSpPr/>
          <p:nvPr/>
        </p:nvSpPr>
        <p:spPr>
          <a:xfrm>
            <a:off x="278892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  Recognize + portion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Phase"/>
          <p:cNvSpPr/>
          <p:nvPr/>
        </p:nvSpPr>
        <p:spPr>
          <a:xfrm>
            <a:off x="498348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 Nutrient lookup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Phase"/>
          <p:cNvSpPr/>
          <p:nvPr/>
        </p:nvSpPr>
        <p:spPr>
          <a:xfrm>
            <a:off x="717804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P4  Safety + ranking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Phase"/>
          <p:cNvSpPr/>
          <p:nvPr/>
        </p:nvSpPr>
        <p:spPr>
          <a:xfrm>
            <a:off x="937260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P5  Evaluate + pilot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254203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473659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"/>
          <p:cNvSpPr/>
          <p:nvPr/>
        </p:nvSpPr>
        <p:spPr>
          <a:xfrm>
            <a:off x="693115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912571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59436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dataset frozen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"/>
          <p:cNvSpPr/>
          <p:nvPr/>
        </p:nvSpPr>
        <p:spPr>
          <a:xfrm>
            <a:off x="498348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pipeline end-to-end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"/>
          <p:cNvSpPr/>
          <p:nvPr/>
        </p:nvSpPr>
        <p:spPr>
          <a:xfrm>
            <a:off x="937260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report + pilot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40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Smartphone with a rear RGB camera.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Laptop/PC with 8–16 GB RAM and internet access.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Optional kitchen scale or reference card for portion checks.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USB camera and controlled lighting for experiments.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Depth camera is optional; it is not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49300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Hardware for the prototype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Hardware tile"/>
          <p:cNvSpPr/>
          <p:nvPr/>
        </p:nvSpPr>
        <p:spPr>
          <a:xfrm>
            <a:off x="502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PHONE
Required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Hardware tile"/>
          <p:cNvSpPr/>
          <p:nvPr/>
        </p:nvSpPr>
        <p:spPr>
          <a:xfrm>
            <a:off x="2788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LAPTOP
8–16 GB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Hardware tile"/>
          <p:cNvSpPr/>
          <p:nvPr/>
        </p:nvSpPr>
        <p:spPr>
          <a:xfrm>
            <a:off x="5074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 / CARD
Required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Hardware tile"/>
          <p:cNvSpPr/>
          <p:nvPr/>
        </p:nvSpPr>
        <p:spPr>
          <a:xfrm>
            <a:off x="7360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+ LIGHT
Experiments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Hardware tile"/>
          <p:cNvSpPr/>
          <p:nvPr/>
        </p:nvSpPr>
        <p:spPr>
          <a:xfrm>
            <a:off x="9646920" y="3886200"/>
            <a:ext cx="1965960" cy="10058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DEPTH CAMERA
Optional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"/>
          <p:cNvSpPr/>
          <p:nvPr/>
        </p:nvSpPr>
        <p:spPr>
          <a:xfrm>
            <a:off x="685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Blue = required for the prototype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"/>
          <p:cNvSpPr/>
          <p:nvPr/>
        </p:nvSpPr>
        <p:spPr>
          <a:xfrm>
            <a:off x="6400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Gray = optional / future extension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Python with PyTorch or ONNX Runtime.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OpenCV and Pillow for image processing.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Flask/FastAPI backend with a React or mobile front end.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SQLite/PostgreSQL plus verified food-composition data.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Git, pytest, and experiment logging.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proprietary API is required for the prototype.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Step 1"/>
          <p:cNvSpPr/>
          <p:nvPr/>
        </p:nvSpPr>
        <p:spPr>
          <a:xfrm>
            <a:off x="50292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 Capture meal image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tep 2"/>
          <p:cNvSpPr/>
          <p:nvPr/>
        </p:nvSpPr>
        <p:spPr>
          <a:xfrm>
            <a:off x="315468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 Check image quality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ep 3"/>
          <p:cNvSpPr/>
          <p:nvPr/>
        </p:nvSpPr>
        <p:spPr>
          <a:xfrm>
            <a:off x="580644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 Detect food + estimate portion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ep 4"/>
          <p:cNvSpPr/>
          <p:nvPr/>
        </p:nvSpPr>
        <p:spPr>
          <a:xfrm>
            <a:off x="845820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 Look up verified nutrients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Arrow"/>
          <p:cNvSpPr/>
          <p:nvPr/>
        </p:nvSpPr>
        <p:spPr>
          <a:xfrm>
            <a:off x="294436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"/>
          <p:cNvSpPr/>
          <p:nvPr/>
        </p:nvSpPr>
        <p:spPr>
          <a:xfrm>
            <a:off x="559612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824788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down"/>
          <p:cNvSpPr/>
          <p:nvPr/>
        </p:nvSpPr>
        <p:spPr>
          <a:xfrm>
            <a:off x="9555480" y="2212848"/>
            <a:ext cx="228600" cy="6858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 5"/>
          <p:cNvSpPr/>
          <p:nvPr/>
        </p:nvSpPr>
        <p:spPr>
          <a:xfrm>
            <a:off x="845820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 Apply safety rules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tep 6"/>
          <p:cNvSpPr/>
          <p:nvPr/>
        </p:nvSpPr>
        <p:spPr>
          <a:xfrm>
            <a:off x="580644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  Rank meals + explain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tep 7"/>
          <p:cNvSpPr/>
          <p:nvPr/>
        </p:nvSpPr>
        <p:spPr>
          <a:xfrm>
            <a:off x="315468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  Show result + correction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rrow left"/>
          <p:cNvSpPr/>
          <p:nvPr/>
        </p:nvSpPr>
        <p:spPr>
          <a:xfrm>
            <a:off x="821131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left"/>
          <p:cNvSpPr/>
          <p:nvPr/>
        </p:nvSpPr>
        <p:spPr>
          <a:xfrm>
            <a:off x="555955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Flow note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500" i="1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User correction updates the estimate and recommendation.</a:t>
            </a:r>
            <a:endParaRPr lang="en-IN"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rrection loop"/>
          <p:cNvSpPr/>
          <p:nvPr/>
        </p:nvSpPr>
        <p:spPr>
          <a:xfrm>
            <a:off x="3840480" y="4224528"/>
            <a:ext cx="4389120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/>
          <p:cNvSpPr/>
          <p:nvPr/>
        </p:nvSpPr>
        <p:spPr>
          <a:xfrm>
            <a:off x="4800600" y="4498848"/>
            <a:ext cx="25603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correction loop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Image &amp; Food Analyzer — detect foods and ingredients.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&amp; Nutrient Engine — estimate grams and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Safety &amp; Personalization — filter and rank suitable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User Interface &amp; Feedback — explain, confirm, and correct.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24612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How the modules work together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odule band"/>
          <p:cNvSpPr/>
          <p:nvPr/>
        </p:nvSpPr>
        <p:spPr>
          <a:xfrm>
            <a:off x="1143000" y="3639312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Image &amp; Food Analyzer  →  foods + grams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577840" y="4087368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Module band"/>
          <p:cNvSpPr/>
          <p:nvPr/>
        </p:nvSpPr>
        <p:spPr>
          <a:xfrm>
            <a:off x="1143000" y="4215384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Portion &amp; Nutrient Engine  →  nutrients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577840" y="4663440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Module band"/>
          <p:cNvSpPr/>
          <p:nvPr/>
        </p:nvSpPr>
        <p:spPr>
          <a:xfrm>
            <a:off x="1143000" y="4791456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Safety &amp; Personalization  →  ranked safe meals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5577840" y="5239512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Module band"/>
          <p:cNvSpPr/>
          <p:nvPr/>
        </p:nvSpPr>
        <p:spPr>
          <a:xfrm>
            <a:off x="1143000" y="5367528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 User Interface &amp; Feedback  →  corrections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"/>
          <p:cNvSpPr/>
          <p:nvPr/>
        </p:nvSpPr>
        <p:spPr>
          <a:xfrm>
            <a:off x="1143000" y="6053328"/>
            <a:ext cx="9144000" cy="25603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User feedback improves the next estimate.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Confidence-aware image-to-nutrient pipeline.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Retrieval-grounded nutrients instead of LLM-only values.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Hard safety constraints separated from soft preferences.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Human correction and explanation as first-class features.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Designed for ordinary smartphone images and low-cost deployment.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Dataset: public food images plus a small local test set.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Tasks: recognition, portion estimation, and nutrient error.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Baselines: direct VLM, classifier, and the proposed modular pipeline.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Pilot: target 20 users; record corrections and acceptance.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Metrics: F1, MAE/MAPE, latency, safety violations, and usefulness.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Analyze failures by cuisine, lighting, and meal complexity.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119303" cy="251809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Current status: evaluation plan; no project test results are claimed yet.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Literature context: calorie error ranges from 0.10% to 38.3%; one VLM study reports 45.6% sMAPE.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Compare recognition, portion, calorie, and nutrient errors separately.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Success means transparent estimates, correctable outputs, and no hard-constraint violations.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Discussion will cover hidden oil, mixed dishes, database coverage, and confidence.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Literature-reported error signals — not project results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Grid line"/>
          <p:cNvSpPr/>
          <p:nvPr/>
        </p:nvSpPr>
        <p:spPr>
          <a:xfrm>
            <a:off x="1828800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164592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Grid line"/>
          <p:cNvSpPr/>
          <p:nvPr/>
        </p:nvSpPr>
        <p:spPr>
          <a:xfrm>
            <a:off x="3054096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2871215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Grid line"/>
          <p:cNvSpPr/>
          <p:nvPr/>
        </p:nvSpPr>
        <p:spPr>
          <a:xfrm>
            <a:off x="4279392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4096511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Grid line"/>
          <p:cNvSpPr/>
          <p:nvPr/>
        </p:nvSpPr>
        <p:spPr>
          <a:xfrm>
            <a:off x="5504688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5321807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Grid line"/>
          <p:cNvSpPr/>
          <p:nvPr/>
        </p:nvSpPr>
        <p:spPr>
          <a:xfrm>
            <a:off x="6729984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6547104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Grid line"/>
          <p:cNvSpPr/>
          <p:nvPr/>
        </p:nvSpPr>
        <p:spPr>
          <a:xfrm>
            <a:off x="7955279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/>
          <p:cNvSpPr/>
          <p:nvPr/>
        </p:nvSpPr>
        <p:spPr>
          <a:xfrm>
            <a:off x="777240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Axis"/>
          <p:cNvSpPr/>
          <p:nvPr/>
        </p:nvSpPr>
        <p:spPr>
          <a:xfrm>
            <a:off x="1828800" y="5989320"/>
            <a:ext cx="6126480" cy="13716"/>
          </a:xfrm>
          <a:prstGeom prst="rect">
            <a:avLst/>
          </a:prstGeom>
          <a:solidFill>
            <a:srgbClr val="2F5597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502920" y="4142232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Zhao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Bar"/>
          <p:cNvSpPr/>
          <p:nvPr/>
        </p:nvSpPr>
        <p:spPr>
          <a:xfrm>
            <a:off x="1828800" y="4160519"/>
            <a:ext cx="1921264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3823216" y="4142232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15.68%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4471416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Moyen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Bar"/>
          <p:cNvSpPr/>
          <p:nvPr/>
        </p:nvSpPr>
        <p:spPr>
          <a:xfrm>
            <a:off x="1828800" y="4489704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"/>
          <p:cNvSpPr/>
          <p:nvPr/>
        </p:nvSpPr>
        <p:spPr>
          <a:xfrm>
            <a:off x="5259263" y="4471416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"/>
          <p:cNvSpPr/>
          <p:nvPr/>
        </p:nvSpPr>
        <p:spPr>
          <a:xfrm>
            <a:off x="502920" y="4800600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Papathanail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Bar"/>
          <p:cNvSpPr/>
          <p:nvPr/>
        </p:nvSpPr>
        <p:spPr>
          <a:xfrm>
            <a:off x="1828800" y="4818887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/>
          <p:cNvSpPr/>
          <p:nvPr/>
        </p:nvSpPr>
        <p:spPr>
          <a:xfrm>
            <a:off x="5259263" y="4800600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Text"/>
          <p:cNvSpPr/>
          <p:nvPr/>
        </p:nvSpPr>
        <p:spPr>
          <a:xfrm>
            <a:off x="502920" y="5129784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Shonkoff max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Bar"/>
          <p:cNvSpPr/>
          <p:nvPr/>
        </p:nvSpPr>
        <p:spPr>
          <a:xfrm>
            <a:off x="1828800" y="5148072"/>
            <a:ext cx="4692883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"/>
          <p:cNvSpPr/>
          <p:nvPr/>
        </p:nvSpPr>
        <p:spPr>
          <a:xfrm>
            <a:off x="6594835" y="5129784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38.3%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"/>
          <p:cNvSpPr/>
          <p:nvPr/>
        </p:nvSpPr>
        <p:spPr>
          <a:xfrm>
            <a:off x="502920" y="5458968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Vedovelli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Bar"/>
          <p:cNvSpPr/>
          <p:nvPr/>
        </p:nvSpPr>
        <p:spPr>
          <a:xfrm>
            <a:off x="1828800" y="5477255"/>
            <a:ext cx="5587349" cy="201168"/>
          </a:xfrm>
          <a:prstGeom prst="rect">
            <a:avLst/>
          </a:prstGeom>
          <a:solidFill>
            <a:srgbClr val="C0504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"/>
          <p:cNvSpPr/>
          <p:nvPr/>
        </p:nvSpPr>
        <p:spPr>
          <a:xfrm>
            <a:off x="7489301" y="5458968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45.6%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Chart note"/>
          <p:cNvSpPr/>
          <p:nvPr/>
        </p:nvSpPr>
        <p:spPr>
          <a:xfrm>
            <a:off x="8366760" y="4160519"/>
            <a:ext cx="2331720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Study-specific values; not directly comparable. Recognition accuracy is not nutrient accuracy.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86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A layered pipeline is more defensible than a single AI model.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Verified nutrients and safety rules must precede personalization.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User correction is essential for uncertain or high-risk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Future work: larger datasets, depth sensing, multilingual cuisine support, and clinical validation.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The prototype is an educational support tool, not a diagnosis system.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3016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From prototype to validated support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Now"/>
          <p:cNvSpPr/>
          <p:nvPr/>
        </p:nvSpPr>
        <p:spPr>
          <a:xfrm>
            <a:off x="731520" y="4069080"/>
            <a:ext cx="4800600" cy="132588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
Image analysis • verified nutrients
Safety rules • user correction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669280" y="4599432"/>
            <a:ext cx="41148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Next"/>
          <p:cNvSpPr/>
          <p:nvPr/>
        </p:nvSpPr>
        <p:spPr>
          <a:xfrm>
            <a:off x="6400800" y="4069080"/>
            <a:ext cx="480060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NEXT
Larger datasets • depth/portion
More cuisines • clinical validation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"/>
          <p:cNvSpPr/>
          <p:nvPr/>
        </p:nvSpPr>
        <p:spPr>
          <a:xfrm>
            <a:off x="1097280" y="5852160"/>
            <a:ext cx="98755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Educational support tool  →  evidence-based improvement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25880"/>
            <a:ext cx="5623560" cy="4983480"/>
          </a:xfrm>
        </p:spPr>
        <p:txBody>
          <a:bodyPr vert="horz" wrap="square" lIns="60000" tIns="30000" rIns="60000" bIns="30000" anchor="t">
            <a:normAutofit fontScale="92500" lnSpcReduction="10000"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(2022). Applying Image-Based Food-Recognition Systems on Dietary Assessment: A Systematic Review. Advances in Nutrition, 13(6), 2590–2619. DOI: 10.1093/advances/nmac078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(2022). PROTEIN AI Advisor: A Knowledge-Based Recommendation Framework Using Expert-Validated Meals for Healthy Diets. Nutrients, 14(20), 4435. DOI: 10.3390/nu14204435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(2022). Relative Validation of an Artificial Intelligence–Enhanced, Image-Assisted Mobile App for Dietary Assessment in Adults: Randomized Crossover Study. Journal of Medical Internet Research, 24(11), e40449. DOI: 10.2196/40449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(2023). AI-Based Digital Image Dietary Assessment Methods Compared to Humans and Ground Truth: A Systematic Review. Annals of Medicine, 55(2), 2273497. DOI: 10.1080/07853890.2023.2273497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Wu et al. (2024). OVFoodSeg: Elevating Open-Vocabulary Food Image Segmentation via Image-Informed Textual Representation. CVPR, 4144–4153. DOI: 10.1109/CVPR52733.2024.00397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Papathanail et al. (2023). The Nutritional Content of Meal Images in Free-Living Conditions—Automatic Assessment with goFOOD™. Nutrients, 15(17), 3835. DOI: 10.3390/nu15173835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Konstantakopoulos et al. (2023). An Automated Image-Based Dietary Assessment System for Mediterranean Foods. IEEE Open Journal of Engineering in Medicine and Biology, 4, 45–54. DOI: 10.1109/OJEMB.2023.3266135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Amiri, Li and Hasan (2023). Personalized Flexible Meal Planning for Individuals With Diet-Related Health Concerns: System Design and Feasibility Validation Study. JMIR Formative Research, 7, e46434. DOI: 10.2196/46434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Romero-Tapiador et al. (2025). Are Vision-Language Models Ready for Dietary Assessment? Exploring the Next Frontier in AI-Powered Food Image Recognition. CVPR Workshops, 430–439. DOI: 10.1109/CVPRW67362.2025.00047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Zhao et al. (2024). Visual Nutrition Analysis: Leveraging Segmentation and Regression for Food Nutrient Estimation. Frontiers in Nutrition, 11, 1469878. DOI: 10.3389/fnut.2024.1469878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  <p:sp>
        <p:nvSpPr>
          <p:cNvPr id="20" name="References Right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/>
        </p:nvSpPr>
        <p:spPr>
          <a:xfrm>
            <a:off x="6172200" y="1325880"/>
            <a:ext cx="5623560" cy="498348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Papastratis et al. (2024). AI Nutrition Recommendation Using a Deep Generative Model and ChatGPT. Scientific Reports, 14, 14620. DOI: 10.1038/s41598-024-65438-x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Yang et al. (2024). ChatDiet: Empowering Personalized Nutrition-Oriented Food Recommender Chatbots Through an LLM-Augmented Framework. Smart Health, 32, 100465. DOI: 10.1016/j.smhl.2024.100465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Amiri, Rad and Li (2024). Delighting Palates with AI: Reinforcement Learning’s Triumph in Crafting Personalized Meal Plans with High User Acceptance. Nutrients, 16(3), 346. DOI: 10.3390/nu16030346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Yan et al. (2025). DietAI24 as a Framework for Comprehensive Nutrition Estimation Using Multimodal Large Language Models. Communications Medicine, 5, 458. DOI: 10.1038/s43856-025-01159-0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O’Hara et al. (2025). An Evaluation of ChatGPT for Nutrient Content Estimation from Meal Photographs. Nutrients, 17(4), 607. DOI: 10.3390/nu17040607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Khlaisamniang et al. (2025). Decomposing Food Images for Better Nutrition Analysis: A Nutritionist-Inspired Two-Step Multimodal LLM Approach. CVPR Workshops, 482–491. DOI: 10.1109/CVPRW67362.2025.00053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17. Zhang et al. (2025). MOPI-HFRS: A Multi-objective Personalized Health-aware Food Recommendation System with LLM-enhanced Interpretation. ACM SIGKDD, 2860–2871. DOI: 10.1145/3690624.3709382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 Wang et al. (2026). Development of an Intelligent Food Nutrition Recognition and Nutrient Intake Assessment System in Hospital Settings. Frontiers in Nutrition, 13, 1637034. DOI: 10.3389/fnut.2026.1637034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 Vedovelli et al. (2026). Model Architecture Dominates Nutritional Estimation Accuracy in Vision-Language Systems. Scientific Reports, 16, 29227. DOI: 10.1038/s41598-026-58755-w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20. Serra et al. (2026). Limited Validity of an AI-Powered App for Dietary Assessment in Females with Obesity. npj Digital Medicine, 9, 357. DOI: 10.1038/s41746-026-02536-2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Prototype pseudocode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image = load_meal_image()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foods = detect_food_and_portions(image)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nutrients = lookup_verified_database(foods)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safe = apply_allergy_and_medical_rules(nutrients,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plan = rank_by_preferences(safe,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 explain_with_confidence(plan)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confidence &lt; threshold: ask_user_to_confirm_or_correct()</a:t>
            </a:r>
            <a:endParaRPr lang="en-IN"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 title: AI-Based Smart Meal Analyzer and Personalized Nutrition Recommendation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Course: 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 [Name / 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Mentor: [Name]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Submission package: abstract, literature review, methodology, results, conclusion, and references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attach the final similarity report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final similarity check pending.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20 verified papers as the reference set.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Cite authors, year, venue, and DOI for every borrowed idea.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the university-approved similarity checker.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Attach the report and resolve flagged text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submit copied wording or unreferenced code.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3193</Words>
  <Application>Microsoft Macintosh PowerPoint</Application>
  <PresentationFormat>Widescreen</PresentationFormat>
  <Paragraphs>372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HARSHA VARDHAN BK</cp:lastModifiedBy>
  <cp:revision>21</cp:revision>
  <cp:lastPrinted>2020-11-26T03:04:06Z</cp:lastPrinted>
  <dcterms:created xsi:type="dcterms:W3CDTF">2008-12-05T06:42:08Z</dcterms:created>
  <dcterms:modified xsi:type="dcterms:W3CDTF">2026-09-26T08:42:21Z</dcterms:modified>
</cp:coreProperties>
</file>