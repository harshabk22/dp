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8"/>
  </p:notesMasterIdLst>
  <p:handoutMasterIdLst>
    <p:handoutMasterId r:id="rId29"/>
  </p:handoutMasterIdLst>
  <p:sldIdLst>
    <p:sldId id="507" r:id="rId2"/>
    <p:sldId id="1027" r:id="rId3"/>
    <p:sldId id="1012" r:id="rId4"/>
    <p:sldId id="1013" r:id="rId5"/>
    <p:sldId id="1046" r:id="rId6"/>
    <p:sldId id="1047" r:id="rId7"/>
    <p:sldId id="1048" r:id="rId8"/>
    <p:sldId id="1049" r:id="rId9"/>
    <p:sldId id="1014" r:id="rId10"/>
    <p:sldId id="1015" r:id="rId11"/>
    <p:sldId id="1034" r:id="rId12"/>
    <p:sldId id="1036" r:id="rId13"/>
    <p:sldId id="1037" r:id="rId14"/>
    <p:sldId id="1011" r:id="rId15"/>
    <p:sldId id="1026" r:id="rId16"/>
    <p:sldId id="1033" r:id="rId17"/>
    <p:sldId id="1038" r:id="rId18"/>
    <p:sldId id="1039" r:id="rId19"/>
    <p:sldId id="1040" r:id="rId20"/>
    <p:sldId id="1044" r:id="rId21"/>
    <p:sldId id="1045" r:id="rId22"/>
    <p:sldId id="1041" r:id="rId23"/>
    <p:sldId id="1025" r:id="rId24"/>
    <p:sldId id="1042" r:id="rId25"/>
    <p:sldId id="1043" r:id="rId26"/>
    <p:sldId id="1035" r:id="rId2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/>
    <p:restoredTop sz="94658"/>
  </p:normalViewPr>
  <p:slideViewPr>
    <p:cSldViewPr snapToGrid="0">
      <p:cViewPr varScale="1">
        <p:scale>
          <a:sx n="120" d="100"/>
          <a:sy n="120" d="100"/>
        </p:scale>
        <p:origin x="44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0808" y="1913534"/>
            <a:ext cx="8534400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Members: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HarshaVardhan BK       2411021061475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Praveen Kumar G         2411021061449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Vikas Jadhav                 2411021061485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Kushal R                       2411021061474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algn="l">
              <a:spcAft>
                <a:spcPts val="300"/>
              </a:spcAft>
            </a:pPr>
            <a:b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Name of the Mentor: Ms. Saswati Debnath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300"/>
              </a:spcAft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E1CSA313 Design Project - 1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822960" y="594360"/>
            <a:ext cx="704088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AI-Based Smart Meal Analyzer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buNone/>
            </a:pPr>
            <a:r>
              <a:rPr lang="en-IN" sz="2400" b="1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&amp; Personalized Nutrition Recommendation System</a:t>
            </a:r>
            <a:endParaRPr lang="en-IN" sz="2400" b="1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5" y="153857"/>
            <a:ext cx="3125501" cy="63086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 (Refer minimum of 10 Recent Journal / Conference papers)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 (Brief description as points)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 (Brief description as points)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Proposed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( Min. of 10 papers)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51560"/>
            <a:ext cx="109728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Meal images are easy to capture, but reliable nutrient estimates remain difficult.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Users need portion-aware estimates, verified food data, and recommendations that respect allergies, health conditions, and preferences.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This project combines computer vision, food-composition lookup, safety rules, and personalized ranking in one transparent workflow.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Goal: build a clear, low-cost prototype that shows its evidence and allows user correction.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8E515-7DA4-4EC4-922F-F3FCE0C4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0D3DD8-F8CE-44A3-AC54-0E84875C0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E1A72F-2375-4691-AD7F-6DD535BC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5244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Dalakleidi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Reviewed 78 food-image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Food-101 accuracy: 55.3–90.3%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Maps system steps and failure cases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is not nutrient accuracy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Stefanidis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 method; 3,000 virtual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Rejection score (F1): 0.995; energy +7.32%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Separates safety from optimization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Synthetic profiles; no clinical outcome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941357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Moyen et al. (2022)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Randomized crossover; 136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difference: −32 kcal/day; usability 77 vs 53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usability and correction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Wide individual error; short study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99429498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Shonkoff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Systematic review: 52 image studies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relative error: energy 0.10–38.3%; volume 0.09–33%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why reference methods matter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Too varied to combine; food-database labels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941030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294633E-F5D1-4EDE-B451-D7D5D8A5C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6A4B2-586E-4C82-BD66-5072347EC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37BED9-2223-432E-969D-9056194A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A0A60B-2571-4E09-96C2-F25CC45EE1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489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Wu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for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Reported gains: +4.9/+3.5 points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Handles unfamiliar ingredients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Paper reports mixed values; no portion/nutrient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Papathanail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+ portions + database; 49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Fine top-1: 58.7%; energy error 27.4% vs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Practical image-to-nutrient workflow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hidden oil; recall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87197256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Konstantakopoulos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 images + reference card; volume estimate; 148 dishes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Top recognition: 83.8%; volume error 10.5%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Volume estimate for a specific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two images/card; no nutrient error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33364338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(2023)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rules + ranking; 39 adults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Helpful: 38/39; saved time: 37/39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separate from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health-outcome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351168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F3CE074-B917-4BEB-9352-B325DE7B3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17F2C-4286-47D7-9552-B0238679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528561-2C78-48AB-ABE8-7839342E2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10FE5D-776C-4AF1-A4A5-CCF0E1231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585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Romero-Tapiador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 vision-language models; 9,263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Gemini recognition: 70.2% average; 50.0% with cooking style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Large labeled benchmark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only; no nutrient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Zhao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detection + nutrient prediction; 3,224 images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Food-region overlap: 97.69%; benchmark calorie error 15.68%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Predicts several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 images; limited cuisine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61593936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Papastratis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planner; virtual + real profiles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Nutrition-target agreement: 87% virtual; 84% real; about 0.5 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Fast plans with nutrition limits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virtual; no real-user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0509977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Yang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Personal data + food lookup + chatbot; 400 pairs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92% manually judged correct; 400 synthetic pairs; one-person case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Explains personal recommendations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Mostly synthetic; depends on assumptions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6763562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8A1167D-8024-4834-AF6D-17F718FCC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7FF15-39B1-4A97-98CC-2D1B9A1F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6E7C8E-23E2-412B-B68E-E23A8285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77B300-BD8A-41DB-B12B-54560D162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5939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Amiri et al. (2024)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Ratings + feedback; 180,000 recipes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Nutrition score 0.90; preference 0.84; acceptance 4.5/5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Adds taste and feedback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Offline; no allergy safety; basic model matched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14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Yan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Image → food names → food-database lookup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energy error: 47.7 / 68.2 kcal (two test sets)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Uses food data, not model memory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U.S.-centric; closed model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28788093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O’Hara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ChatGPT-4; 38 weighed meals; 16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Recognition 88.6%; mean absolute difference: weight 27.8%; nutrients 26.9%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chatbot nutrient bias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sample; no food database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62194735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Khlaisamniang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Identify food/portions; get nutrients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GPT-4o: 78.49 kcal error; 12.11% better than one-step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Shows step-by-step reasoning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Hidden ingredients; Gindee result differs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4091602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9214032-00E0-4045-9CCC-DFF25B5FC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0B264-8B68-4C08-84E5-BE2C9296E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EA682D-70E5-4ADD-A5F7-5A3CB6DD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 algn="l">
              <a:buNone/>
            </a:pPr>
            <a:r>
              <a:rPr lang="en-IN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Review of literature</a:t>
            </a:r>
            <a:endParaRPr lang="en-IN" sz="32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E7F002-3DC8-4217-81E6-552C73FFB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378642"/>
              </p:ext>
            </p:extLst>
          </p:nvPr>
        </p:nvGraphicFramePr>
        <p:xfrm>
          <a:off x="427703" y="1135626"/>
          <a:ext cx="11356929" cy="5680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923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80968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249940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837749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2024287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56062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1087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 Name, Journal, Publication Year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Research/ Methodology 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Performance Metrics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IN" sz="1800" b="1" dirty="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Disadvantages</a:t>
                      </a:r>
                      <a:endParaRPr lang="en-IN" sz="1800" b="1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Zhang et al. (2025)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Health data + preference ranking + explanations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Offline ranking/diversity; no clinical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Combines health and preference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dataset; fixed tags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Wang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Color + depth images + markers + weighing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 recognition 99.2%; reported volume ratio 85.4%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Controlled, recorded meals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Hospital-only; volume values differ; no patient-outcome test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2491873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Vedovelli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vision-language models; seven prompts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benchmark error: 45.6%; architecture explains 99.6% of variation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 choice matters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clinical; provider effects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87592732"/>
                  </a:ext>
                </a:extLst>
              </a:tr>
              <a:tr h="9508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Serra et al. (2026)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SNAQ; 20 women; doubly labelled water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bias: −817 kcal/day; association near zero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Stronger reference method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7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female sample; estimated intake</a:t>
                      </a:r>
                      <a:endParaRPr lang="en-IN" sz="17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9430431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D444838-CF7C-45F3-B0CD-D20F448F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59263"/>
            <a:ext cx="11173961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Recognition accuracy does not guarantee calorie or nutrient accuracy.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Portion size, hidden oil, ingredients, and cooking method drive most errors.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Verified food-database retrieval is safer than asking an LLM to remember nutrients.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Safety rules and human correction are necessary for trustworthy recommendations.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Personalization should come after measurement and safety filtering.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Mixed dishes, occlusion, lighting, and plate size reduce reliability.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Many datasets are small, synthetic, or culturally narrow.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Most studies use reference tables instead of weighed or clinical ground truth.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Proprietary models and closed databases limit reproducibility.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Acceptance scores do not prove adherence, safety, or health outcomes.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Problem: Existing apps often recognize foods but do not provide transparent, portion-aware nutrient estimates.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Scope: Image capture → food/portion analysis → verified nutrient lookup → safety filtering → personalized recommendations.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Include: User profile, allergies, dietary preferences, confidence scores, and correction controls.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Exclude: Medical diagnosis, treatment plans, and unsupported clinical claims.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Deliverable: A simple prototype for general nutrition support and dietetic consultation.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layered, human-in-the-loop system: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Capture one meal image and check image quality.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Detect foods/ingredients and estimate portions.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Retrieve nutrients from a verified food-composition database.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Apply allergy, medical, religious, and preference constraints.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Rank suitable foods and explain the nutrient rationale.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Build an image-based meal analysis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Estimate food identity and portion with confidence indicators.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Calculate calories and macronutrients from verified data.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Enforce allergy and medical constraints before ranking foods.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Evaluate accuracy, usability, latency, and recommendation safety.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wrap="square" lIns="60000" tIns="30000" rIns="60000" bIns="30000" anchor="t">
            <a:normAutofit/>
          </a:bodyPr>
          <a:lstStyle/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Select public food-image datasets and a verified food-composition source.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Preprocess images and run food/ingredient recognition with portion estimation.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Retrieve calories and nutrients from the food database.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Apply safety rules and preference-based ranking.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15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Evaluate on held-out images and a small user pilot; report errors, speed, and safety violations.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Research / 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172F0-DC24-A9DB-0F68-54E3881FD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016" y="228600"/>
            <a:ext cx="2775262" cy="52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Smartphone with a rear RGB camera.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Laptop/PC with 8–16 GB RAM and internet access.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Optional kitchen scale or reference card for portion checks.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USB camera and controlled lighting for experiments.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Depth camera is optional; it is not required for the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94294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5328B-2062-6B94-DEDE-8CFD1B404E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184" y="151141"/>
            <a:ext cx="3179997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24847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Python with PyTorch or ONNX Runtime.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OpenCV and Pillow for image processing.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Flask/FastAPI backend with a React or mobile front end.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SQLite/PostgreSQL plus verified food-composition data.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Git, pytest, and experiment logging.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 proprietary API is required for the prototype.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31CD9-0893-71CD-A52F-CE13AF034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830" y="138036"/>
            <a:ext cx="2715302" cy="580437"/>
          </a:xfrm>
          <a:prstGeom prst="rect">
            <a:avLst/>
          </a:prstGeom>
        </p:spPr>
      </p:pic>
      <p:sp>
        <p:nvSpPr>
          <p:cNvPr id="6" name="Step 1"/>
          <p:cNvSpPr/>
          <p:nvPr/>
        </p:nvSpPr>
        <p:spPr>
          <a:xfrm>
            <a:off x="50292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  Capture meal image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tep 2"/>
          <p:cNvSpPr/>
          <p:nvPr/>
        </p:nvSpPr>
        <p:spPr>
          <a:xfrm>
            <a:off x="315468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  Check image quality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tep 3"/>
          <p:cNvSpPr/>
          <p:nvPr/>
        </p:nvSpPr>
        <p:spPr>
          <a:xfrm>
            <a:off x="580644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  Detect food + estimate portion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Step 4"/>
          <p:cNvSpPr/>
          <p:nvPr/>
        </p:nvSpPr>
        <p:spPr>
          <a:xfrm>
            <a:off x="8458200" y="123444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  Look up verified nutrients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Arrow"/>
          <p:cNvSpPr/>
          <p:nvPr/>
        </p:nvSpPr>
        <p:spPr>
          <a:xfrm>
            <a:off x="294436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Arrow"/>
          <p:cNvSpPr/>
          <p:nvPr/>
        </p:nvSpPr>
        <p:spPr>
          <a:xfrm>
            <a:off x="559612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rrow"/>
          <p:cNvSpPr/>
          <p:nvPr/>
        </p:nvSpPr>
        <p:spPr>
          <a:xfrm>
            <a:off x="8247888" y="1517904"/>
            <a:ext cx="201168" cy="228600"/>
          </a:xfrm>
          <a:prstGeom prst="righ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 down"/>
          <p:cNvSpPr/>
          <p:nvPr/>
        </p:nvSpPr>
        <p:spPr>
          <a:xfrm>
            <a:off x="9555480" y="2212848"/>
            <a:ext cx="228600" cy="685800"/>
          </a:xfrm>
          <a:prstGeom prst="down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 5"/>
          <p:cNvSpPr/>
          <p:nvPr/>
        </p:nvSpPr>
        <p:spPr>
          <a:xfrm>
            <a:off x="845820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  Apply safety rules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Step 6"/>
          <p:cNvSpPr/>
          <p:nvPr/>
        </p:nvSpPr>
        <p:spPr>
          <a:xfrm>
            <a:off x="580644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  Rank meals + explain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" name="Step 7"/>
          <p:cNvSpPr/>
          <p:nvPr/>
        </p:nvSpPr>
        <p:spPr>
          <a:xfrm>
            <a:off x="3154680" y="3154680"/>
            <a:ext cx="2423160" cy="777240"/>
          </a:xfrm>
          <a:prstGeom prst="roundRect">
            <a:avLst/>
          </a:prstGeom>
          <a:solidFill>
            <a:srgbClr val="4F81BD"/>
          </a:solidFill>
          <a:ln w="12700">
            <a:solidFill>
              <a:srgbClr val="2F5597"/>
            </a:solidFill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6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7  Show result + correction</a:t>
            </a:r>
            <a:endParaRPr lang="en-IN" sz="1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Arrow left"/>
          <p:cNvSpPr/>
          <p:nvPr/>
        </p:nvSpPr>
        <p:spPr>
          <a:xfrm>
            <a:off x="8211312" y="3438144"/>
            <a:ext cx="201168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Arrow left"/>
          <p:cNvSpPr/>
          <p:nvPr/>
        </p:nvSpPr>
        <p:spPr>
          <a:xfrm>
            <a:off x="5559552" y="3438144"/>
            <a:ext cx="201168" cy="228600"/>
          </a:xfrm>
          <a:prstGeom prst="leftArrow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Flow note"/>
          <p:cNvSpPr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60000" tIns="30000" rIns="60000" bIns="30000" anchor="ctr">
            <a:normAutofit/>
          </a:bodyPr>
          <a:lstStyle/>
          <a:p>
            <a:pPr marL="0" indent="0" algn="ctr">
              <a:buNone/>
            </a:pPr>
            <a:r>
              <a:rPr lang="en-IN" sz="1500" i="1" dirty="0">
                <a:solidFill>
                  <a:srgbClr val="2F5597"/>
                </a:solidFill>
                <a:latin typeface="Times New Roman"/>
                <a:ea typeface="Times New Roman"/>
                <a:cs typeface="Times New Roman"/>
              </a:rPr>
              <a:t>User correction updates the estimate and recommendation.</a:t>
            </a:r>
            <a:endParaRPr lang="en-IN" sz="150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EF7A-D100-228A-91F7-55D819A2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A16D7-8892-69C5-8E3F-CA899A02E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Image &amp; Food Analyzer — detect foods and ingredients.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Portion &amp; Nutrient Engine — estimate grams and nutrients.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Safety &amp; Personalization — filter and rank suitable meals.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User Interface &amp; Feedback — explain, confirm, and correct.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121F08-AD64-6706-BBF1-E99AD8E1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244589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Modules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1F741-6C92-DBA8-8287-DCADD1E7C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13" y="169256"/>
            <a:ext cx="268532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14207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Confidence-aware image-to-nutrient pipeline.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Retrieval-grounded nutrients instead of LLM-only values.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Hard safety constraints separated from soft preferences.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Human correction and explanation as first-class features.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Designed for ordinary smartphone images and low-cost deployment.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0301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8223-842F-E06E-5A4A-6B7EEA7E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153325-B3C0-3BBC-88F7-6BC291541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Dataset: public food images plus a small local test set.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Tasks: recognition, portion estimation, and nutrient error.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Baselines: direct VLM, classifier, and the proposed modular pipeline.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Pilot: target 20 users; record corrections and acceptance.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Metrics: F1, MAE/MAPE, latency, safety violations, and usefulness.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Analyze failures by cuisine, lighting, and meal complexity.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2D421F-1615-2669-0698-211111DA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C60FC0-D47B-5ADE-2B68-D06E7335D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593120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3EDA-4E6D-78BF-B031-6B8E6D61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0FB39F-7422-D5C9-C864-CC423629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Current status: evaluation plan; no project test results are claimed yet.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Literature context: calorie error ranges from 0.10% to 38.3%; one VLM study reports 45.6% sMAPE.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Compare recognition, portion, calorie, and nutrient errors separately.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Success means transparent estimates, correctable outputs, and no hard-constraint violations.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Discussion will cover hidden oil, mixed dishes, database coverage, and confidence.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961CD4-3E10-98EF-AD19-1669748F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CADDA-D9E2-36EA-E944-564BB95DF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63539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B8F1-05E9-07E3-39E6-5440FC9B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4C79AF-A4DC-60B2-2D45-0704C945A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A layered pipeline is more defensible than a single AI model.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Verified nutrients and safety rules must precede personalization.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User correction is essential for uncertain or high-risk meals.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Future work: larger datasets, depth sensing, multilingual cuisine support, and clinical validation.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The prototype is an educational support tool, not a diagnosis system.</a:t>
            </a:r>
            <a:endParaRPr lang="en-IN"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25804-55EE-9262-0513-B15AAAE3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A1E605-EF66-503F-9EFE-62349AAAD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721" y="138036"/>
            <a:ext cx="2445479" cy="45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18935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325880"/>
            <a:ext cx="5623560" cy="4983480"/>
          </a:xfrm>
        </p:spPr>
        <p:txBody>
          <a:bodyPr vert="horz" wrap="square" lIns="60000" tIns="30000" rIns="60000" bIns="30000" anchor="t">
            <a:normAutofit fontScale="92500" lnSpcReduction="10000"/>
          </a:bodyPr>
          <a:lstStyle/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Dalakleidi et al. (2022). Applying Image-Based Food-Recognition Systems on Dietary Assessment: A Systematic Review. Advances in Nutrition, 13(6), 2590–2619. DOI: 10.1093/advances/nmac078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Stefanidis et al. (2022). PROTEIN AI Advisor: A Knowledge-Based Recommendation Framework Using Expert-Validated Meals for Healthy Diets. Nutrients, 14(20), 4435. DOI: 10.3390/nu14204435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Moyen et al. (2022). Relative Validation of an Artificial Intelligence–Enhanced, Image-Assisted Mobile App for Dietary Assessment in Adults: Randomized Crossover Study. Journal of Medical Internet Research, 24(11), e40449. DOI: 10.2196/40449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Shonkoff et al. (2023). AI-Based Digital Image Dietary Assessment Methods Compared to Humans and Ground Truth: A Systematic Review. Annals of Medicine, 55(2), 2273497. DOI: 10.1080/07853890.2023.2273497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Wu et al. (2024). OVFoodSeg: Elevating Open-Vocabulary Food Image Segmentation via Image-Informed Textual Representation. CVPR, 4144–4153. DOI: 10.1109/CVPR52733.2024.00397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6. Papathanail et al. (2023). The Nutritional Content of Meal Images in Free-Living Conditions—Automatic Assessment with goFOOD™. Nutrients, 15(17), 3835. DOI: 10.3390/nu15173835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7. Konstantakopoulos et al. (2023). An Automated Image-Based Dietary Assessment System for Mediterranean Foods. IEEE Open Journal of Engineering in Medicine and Biology, 4, 45–54. DOI: 10.1109/OJEMB.2023.3266135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8. Amiri, Li and Hasan (2023). Personalized Flexible Meal Planning for Individuals With Diet-Related Health Concerns: System Design and Feasibility Validation Study. JMIR Formative Research, 7, e46434. DOI: 10.2196/46434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9. Romero-Tapiador et al. (2025). Are Vision-Language Models Ready for Dietary Assessment? Exploring the Next Frontier in AI-Powered Food Image Recognition. CVPR Workshops, 430–439. DOI: 10.1109/CVPRW67362.2025.00047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10. Zhao et al. (2024). Visual Nutrition Analysis: Leveraging Segmentation and Regression for Food Nutrient Estimation. Frontiers in Nutrition, 11, 1469878. DOI: 10.3389/fnut.2024.1469878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  <p:sp>
        <p:nvSpPr>
          <p:cNvPr id="20" name="References Right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/>
        </p:nvSpPr>
        <p:spPr>
          <a:xfrm>
            <a:off x="6172200" y="1325880"/>
            <a:ext cx="5623560" cy="4983480"/>
          </a:xfrm>
        </p:spPr>
        <p:txBody>
          <a:bodyPr vert="horz" wrap="square" lIns="60000" tIns="30000" rIns="60000" bIns="30000" anchor="t">
            <a:normAutofit/>
          </a:bodyPr>
          <a:lstStyle/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11. Papastratis et al. (2024). AI Nutrition Recommendation Using a Deep Generative Model and ChatGPT. Scientific Reports, 14, 14620. DOI: 10.1038/s41598-024-65438-x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12. Yang et al. (2024). ChatDiet: Empowering Personalized Nutrition-Oriented Food Recommender Chatbots Through an LLM-Augmented Framework. Smart Health, 32, 100465. DOI: 10.1016/j.smhl.2024.100465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13. Amiri, Rad and Li (2024). Delighting Palates with AI: Reinforcement Learning’s Triumph in Crafting Personalized Meal Plans with High User Acceptance. Nutrients, 16(3), 346. DOI: 10.3390/nu16030346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14. Yan et al. (2025). DietAI24 as a Framework for Comprehensive Nutrition Estimation Using Multimodal Large Language Models. Communications Medicine, 5, 458. DOI: 10.1038/s43856-025-01159-0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15. O’Hara et al. (2025). An Evaluation of ChatGPT for Nutrient Content Estimation from Meal Photographs. Nutrients, 17(4), 607. DOI: 10.3390/nu17040607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16. Khlaisamniang et al. (2025). Decomposing Food Images for Better Nutrition Analysis: A Nutritionist-Inspired Two-Step Multimodal LLM Approach. CVPR Workshops, 482–491. DOI: 10.1109/CVPRW67362.2025.00053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17. Zhang et al. (2025). MOPI-HFRS: A Multi-objective Personalized Health-aware Food Recommendation System with LLM-enhanced Interpretation. ACM SIGKDD, 2860–2871. DOI: 10.1145/3690624.3709382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18. Wang et al. (2026). Development of an Intelligent Food Nutrition Recognition and Nutrient Intake Assessment System in Hospital Settings. Frontiers in Nutrition, 13, 1637034. DOI: 10.3389/fnut.2026.1637034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19. Vedovelli et al. (2026). Model Architecture Dominates Nutritional Estimation Accuracy in Vision-Language Systems. Scientific Reports, 16, 29227. DOI: 10.1038/s41598-026-58755-w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70"/>
              </a:spcAft>
              <a:buNone/>
            </a:pPr>
            <a:r>
              <a:rPr lang="en-IN" sz="11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20. Serra et al. (2026). Limited Validity of an AI-Powered App for Dietary Assessment in Females with Obesity. npj Digital Medicine, 9, 357. DOI: 10.1038/s41746-026-02536-2</a:t>
            </a:r>
            <a:endParaRPr lang="en-IN" sz="1150" dirty="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B1E9D-08D2-E426-5B22-3AC2930FB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57C60A-FBDF-9BB5-4528-95592F911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51560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Prototype pseudocode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image = load_meal_image()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foods = detect_food_and_portions(image)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nutrients = lookup_verified_database(foods)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safe = apply_allergy_and_medical_rules(nutrients, profile)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plan = rank_by_preferences(safe, profile)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return explain_with_confidence(plan)</a:t>
            </a:r>
            <a:endParaRPr lang="en-IN" sz="1700" dirty="0">
              <a:latin typeface="Courier New"/>
              <a:ea typeface="Courier New"/>
              <a:cs typeface="Courier New"/>
            </a:endParaRPr>
          </a:p>
          <a:p>
            <a:pPr marL="0" indent="0" algn="l">
              <a:buNone/>
            </a:pPr>
            <a:r>
              <a:rPr lang="en-IN" sz="1700" dirty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if confidence &lt; threshold: ask_user_to_confirm_or_correct()</a:t>
            </a:r>
            <a:endParaRPr lang="en-IN" sz="1700" dirty="0">
              <a:latin typeface="Courier New"/>
              <a:ea typeface="Courier New"/>
              <a:cs typeface="Courier New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1D1431-CBB1-2E8B-9D61-C266D7E3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Implementation (Sample of the Source Code)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D29C0-805E-09D5-FBBC-105D2D7A2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614" y="138036"/>
            <a:ext cx="2730292" cy="5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36372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15CE2-0FCE-C10F-147E-1C0000F53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56C37-CB3A-0542-A650-FDC3D5A9D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Paper title: AI-Based Smart Meal Analyzer and Personalized Nutrition Recommendation System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Course: E1CSA313/E1ITA306 Design Project - 1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Team members: [Name / Register No]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Mentor: [Name]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Submission package: abstract, literature review, methodology, results, conclusion, and references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attach the final similarity report before submission.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D1F075-A6AF-DC0E-0383-CB3781E9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Submission Page of the Paper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C8A54-DB36-4EFB-9F5E-BC062E18F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138036"/>
            <a:ext cx="263589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194420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417320"/>
            <a:ext cx="10789920" cy="51206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Status: final similarity check pending.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the 20 verified papers as the reference set.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Cite authors, year, venue, and DOI for every borrowed idea.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Run the university-approved similarity checker.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Attach the report and resolve flagged text before submission.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  <a:p>
            <a:pPr marL="0" indent="0" algn="l">
              <a:spcAft>
                <a:spcPts val="200"/>
              </a:spcAft>
              <a:buNone/>
            </a:pPr>
            <a:r>
              <a:rPr lang="en-IN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 not submit copied wording or unreferenced code.</a:t>
            </a:r>
            <a:endParaRPr lang="en-IN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4634333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Report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45E307-6A9E-5159-8B35-ADF54C109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800" y="138036"/>
            <a:ext cx="244547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57006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2937</Words>
  <Application>Microsoft Macintosh PowerPoint</Application>
  <PresentationFormat>Widescreen</PresentationFormat>
  <Paragraphs>315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Courier New</vt:lpstr>
      <vt:lpstr>Times New Roman</vt:lpstr>
      <vt:lpstr>Office Theme</vt:lpstr>
      <vt:lpstr>PowerPoint Presentation</vt:lpstr>
      <vt:lpstr> Agenda  </vt:lpstr>
      <vt:lpstr>Introduction</vt:lpstr>
      <vt:lpstr>Review of literature</vt:lpstr>
      <vt:lpstr>Review of literature</vt:lpstr>
      <vt:lpstr>Review of literature</vt:lpstr>
      <vt:lpstr>Review of literature</vt:lpstr>
      <vt:lpstr>Review of literature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Proposed Research / Methodology</vt:lpstr>
      <vt:lpstr>Hardware Requirements</vt:lpstr>
      <vt:lpstr> Software Requirements</vt:lpstr>
      <vt:lpstr> Process / Flow / Design Diagram</vt:lpstr>
      <vt:lpstr> Proposed Modules</vt:lpstr>
      <vt:lpstr> Novelty of the Proposed Idea / Project</vt:lpstr>
      <vt:lpstr> Experimentation</vt:lpstr>
      <vt:lpstr> Results and Discussion</vt:lpstr>
      <vt:lpstr> Conclusion &amp; Future Directions</vt:lpstr>
      <vt:lpstr> References  </vt:lpstr>
      <vt:lpstr>   Implementation (Sample of the Source Code) </vt:lpstr>
      <vt:lpstr>   Submission Page of the Paper </vt:lpstr>
      <vt:lpstr>  Plagiarism Report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HARSHA VARDHAN BK</cp:lastModifiedBy>
  <cp:revision>19</cp:revision>
  <cp:lastPrinted>2020-11-26T03:04:06Z</cp:lastPrinted>
  <dcterms:created xsi:type="dcterms:W3CDTF">2008-12-05T06:42:08Z</dcterms:created>
  <dcterms:modified xsi:type="dcterms:W3CDTF">2026-09-25T16:27:27Z</dcterms:modified>
</cp:coreProperties>
</file>