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8"/>
  </p:notesMasterIdLst>
  <p:handoutMasterIdLst>
    <p:handoutMasterId r:id="rId29"/>
  </p:handoutMasterIdLst>
  <p:sldIdLst>
    <p:sldId id="507" r:id="rId2"/>
    <p:sldId id="1027" r:id="rId3"/>
    <p:sldId id="1012" r:id="rId4"/>
    <p:sldId id="1013" r:id="rId5"/>
    <p:sldId id="1046" r:id="rId6"/>
    <p:sldId id="1047" r:id="rId7"/>
    <p:sldId id="1048" r:id="rId8"/>
    <p:sldId id="1049" r:id="rId9"/>
    <p:sldId id="1014" r:id="rId10"/>
    <p:sldId id="1015" r:id="rId11"/>
    <p:sldId id="1034" r:id="rId12"/>
    <p:sldId id="1036" r:id="rId13"/>
    <p:sldId id="1037" r:id="rId14"/>
    <p:sldId id="1011" r:id="rId15"/>
    <p:sldId id="1026" r:id="rId16"/>
    <p:sldId id="1033" r:id="rId17"/>
    <p:sldId id="1038" r:id="rId18"/>
    <p:sldId id="1039" r:id="rId19"/>
    <p:sldId id="1040" r:id="rId20"/>
    <p:sldId id="1044" r:id="rId21"/>
    <p:sldId id="1045" r:id="rId22"/>
    <p:sldId id="1041" r:id="rId23"/>
    <p:sldId id="1025" r:id="rId24"/>
    <p:sldId id="1042" r:id="rId25"/>
    <p:sldId id="1043" r:id="rId26"/>
    <p:sldId id="1035" r:id="rId2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012"/>
    <p:restoredTop sz="94651"/>
  </p:normalViewPr>
  <p:slideViewPr>
    <p:cSldViewPr snapToGrid="0">
      <p:cViewPr>
        <p:scale>
          <a:sx n="78" d="100"/>
          <a:sy n="78" d="100"/>
        </p:scale>
        <p:origin x="3768" y="1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HarshaVardhan BK       2411021061475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Praveen Kumar G         2411021061449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Vikas Jadhav                 2411021061485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Kushal R                       2411021061474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b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 of the Mentor: Ms. Saswati Debnath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E1CSA313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822960" y="594360"/>
            <a:ext cx="704088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AI-Based Smart Meal Analyzer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&amp; Personalized Nutrition Recommendation System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51560"/>
            <a:ext cx="109728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• Meal images are simple to capture, but end-to-end VLM nutrient estimation suffers from high hallucination rates (up to 45% sMAPE).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• Reliable dietary tracking requires decoupling visual perception from composition, anchoring portions to personal tableware.</a:t>
            </a: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• Our system couples Meta DINOv2 tableware identification, fast semantic food grounding (ICMR-NIN &amp; USDA), and Bayesian portion updating.</a:t>
            </a: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• Goal: an explainable, low-cost prototype with finite-sample conformal uncertainty bounds and active human-in-the-loop inquiry.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388E515-7DA4-4EC4-922F-F3FCE0C4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250D3DD8-F8CE-44A3-AC54-0E84875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05E1A72F-2375-4691-AD7F-6DD535BC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524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Dalakleidi et al. (2022)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Image-based food recognition review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Reviewed 78 food-image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Food-101 accuracy: 55.3–90.3%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Maps system steps and failure cases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is not nutrient accuracy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Stefanidis et al. (2022)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Knowledge-based meal recommendation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 method; 3,000 virtual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Rejection score (F1): 0.995; energy +7.32%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Separates safety from optimization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Synthetic profiles; no clinical outcome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05941357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Moyen et al. (2022)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 app for dietary assessment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Randomized crossover; 136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difference: −32 kcal/day; usability 77 vs 53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usability and correction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Wide individual error; short study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4199429498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Shonkoff et al. (2023)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Digital image dietary assessment review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review: 52 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relative error: energy 0.10–38.3%; volume 0.09–33%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why reference methods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 varied to combine; food-database labels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41694103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E294633E-F5D1-4EDE-B451-D7D5D8A5C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C906A4B2-586E-4C82-BD66-5072347E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5C37BED9-2223-432E-969D-9056194A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76A0A60B-2571-4E09-96C2-F25CC45EE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Wu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OVFoodSeg: open-vocabulary food segmentation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for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 gains: +4.9/+3.5 points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Handles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reports mixed values; no portion/nutrient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Papathanail et al. (2023)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goFOOD: free-living meal assessment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+ portions + database; 49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Fine top-1: 58.7%; energy error 27.4% vs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Practical image-to-nutrient workflow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hidden oil;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087197256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Konstantakopoulos et al. (2023)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Automated assessment of Mediterranean foods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images + reference card; volume estimate; 148 dishes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 recognition: 83.8%; volume error 10.5%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Volume estimate for a specific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two images/card; no nutrient error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633364338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(2023)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Personalized flexible meal planning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ranking; 39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Helpful: 38/39; saved time: 37/39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separate from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health-outcome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4351168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BF3CE074-B917-4BEB-9352-B325DE7B3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F1A17F2C-4286-47D7-9552-B0238679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D3528561-2C78-48AB-ABE8-7839342E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AF10FE5D-776C-4AF1-A4A5-CCF0E1231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585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Romero-Tapiador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Are vision-language models ready?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 vision-language models; 9,263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Gemini recognition: 70.2% average; 50.0% with cooking style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 labeled benchmark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only; no 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Zhao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Visual nutrition analysis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+ nutrient prediction; 3,224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Food-region overlap: 97.69%; benchmark calorie error 15.68%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Predicts several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 images; limited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261593936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Papastratis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Deep generative nutrition recommendation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planner; virtual + real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Nutrition-target agreement: 87% virtual; 84% real; about 0.5 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plans with nutrition limits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virtual; no real-user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10509977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Yang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ChatDiet: nutrition recommender chatbot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Personal data + food lookup + chatbot; 400 pairs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92% manually judged correct; 400 synthetic pairs; one-person case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Explains personal recommendations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synthetic; depends on assumptions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7676356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D8A1167D-8024-4834-AF6D-17F718FCC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2977FF15-39B1-4A97-98CC-2D1B9A1F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C56E7C8E-23E2-412B-B68E-E23A8285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5E77B300-BD8A-41DB-B12B-54560D162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5939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Reinforcement learning for meal plans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Ratings + feedback; 180,000 recipes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 score 0.90; preference 0.84; acceptance 4.5/5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Adds taste and feedback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Offline; no allergy safety; basic model matched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DietAI24: multimodal nutrition estimation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 → food names → food-database lookup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error: 47.7 / 68.2 kcal (two test sets)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food data, not model memory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U.S.-centric; closed model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328788093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O’Hara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ChatGPT nutrient estimation from photos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ChatGPT-4; 38 weighed meals; 16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88.6%; mean absolute difference: weight 27.8%; nutrients 26.9%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chatbot nutrient bias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food database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362194735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Khlaisamniang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Two-step food-image nutrition analysis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Identify food/portions; get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GPT-4o: 78.49 kcal error; 12.11% better than one-step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step-by-step reasoning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Hidden ingredients; Gindee result differs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94091602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69214032-00E0-4045-9CCC-DFF25B5FC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210B264-8B68-4C08-84E5-BE2C9296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C0EA682D-70E5-4ADD-A5F7-5A3CB6DD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DFE7F002-3DC8-4217-81E6-552C73FFB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5680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Zhang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MOPI-HFRS: health-aware food recommendation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 data + preference ranking + explanations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 ranking/diversity; no clinical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health and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dataset; fixed tags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Wang et al. (2026)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Hospital food nutrition recognition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Color + depth images + markers + weighing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99.2%; reported volume ratio 85.4%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Controlled, recorded meals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Hospital-only; volume values differ; no patient-outcome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02491873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Vedovelli et al. (2026)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architecture and nutrition estimation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vision-language models; seven prompts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benchmark error: 45.6%; architecture explains 99.6% of variation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choice matters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clinical; provider effects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288759273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Serra et al. (2026)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Validity of an AI food app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SNAQ; 20 women; doubly labelled water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bias: −817 kcal/day; association near zero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Stronger reference method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female sample; estimated intake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7943043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7D444838-CF7C-45F3-B0CD-D20F448F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Recognition accuracy does not guarantee calorie or nutrient accuracy.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size, hidden oil, ingredients, and cooking method drive most errors.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Verified food-database retrieval is safer than asking an LLM to remember nutrients.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Safety rules and human correction are necessary for trustworthy recommendations.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Personalization should come after measurement and safety filtering.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Mixed dishes, occlusion, lighting, and plate size reduce reliability.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Many datasets are small, synthetic, or culturally narrow.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Most studies use reference tables instead of weighed or clinical ground truth.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Proprietary models and closed databases limit reproducibility.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Acceptance scores do not prove adherence, safety, or health outcomes.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60"/>
            <a:ext cx="11006138" cy="25968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l"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Problem: Direct VLM nutrition guessing hallucinates calories without tableware metric scale or certified food composition grounding.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Scope: Single-photo capture → decoupled visual/tableware perception → FastEmbed verified nutrient lookup → Bayesian portion updates → active inquiry.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Include: Tableware Re-ID, certified food composition databases (ICMR-NIN / USDA), split-conformal confidence intervals, and 1-tap discrete inquiry.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Exclude: Medical diagnosis, treatment plans, and unsupported clinical claims.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75887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The gap our system addresses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Existing apps"/>
          <p:cNvSpPr/>
          <p:nvPr/>
        </p:nvSpPr>
        <p:spPr>
          <a:xfrm>
            <a:off x="685800" y="4069080"/>
            <a:ext cx="2971800" cy="9601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600">
                <a:solidFill>
                  <a:srgbClr val="404040"/>
                </a:solidFill>
                <a:latin typeface="Calibri"/>
              </a:defRPr>
            </a:pPr>
            <a:r>
              <a:t>Monolithic VLM — end-to-end guessing, hallucinated calories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3730752" y="4416552"/>
            <a:ext cx="256032" cy="256032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urrent gap"/>
          <p:cNvSpPr/>
          <p:nvPr/>
        </p:nvSpPr>
        <p:spPr>
          <a:xfrm>
            <a:off x="4069080" y="4069080"/>
            <a:ext cx="2971800" cy="96012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600">
                <a:solidFill>
                  <a:srgbClr val="404040"/>
                </a:solidFill>
                <a:latin typeface="Calibri"/>
              </a:defRPr>
            </a:pPr>
            <a:r>
              <a:t>No tableware anchor, uncalibrated confidence intervals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7114032" y="4416552"/>
            <a:ext cx="256032" cy="256032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his project"/>
          <p:cNvSpPr/>
          <p:nvPr/>
        </p:nvSpPr>
        <p:spPr>
          <a:xfrm>
            <a:off x="7452360" y="4069080"/>
            <a:ext cx="2971800" cy="960120"/>
          </a:xfrm>
          <a:prstGeom prst="roundRect">
            <a:avLst/>
          </a:prstGeom>
          <a:solidFill>
            <a:srgbClr val="D9E2F3"/>
          </a:solidFill>
          <a:ln w="12700">
            <a:solidFill>
              <a:srgbClr val="4F81B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600">
                <a:solidFill>
                  <a:srgbClr val="404040"/>
                </a:solidFill>
                <a:latin typeface="Calibri"/>
              </a:defRPr>
            </a:pPr>
            <a:r>
              <a:t>Decoupled pipeline — DINOv2 Re-ID, certified data, conformal bounds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In scope"/>
          <p:cNvSpPr/>
          <p:nvPr/>
        </p:nvSpPr>
        <p:spPr>
          <a:xfrm>
            <a:off x="685800" y="5440680"/>
            <a:ext cx="5120640" cy="502920"/>
          </a:xfrm>
          <a:prstGeom prst="roundRect">
            <a:avLst/>
          </a:prstGeom>
          <a:solidFill>
            <a:srgbClr val="D9E2F3"/>
          </a:solidFill>
          <a:ln w="12700">
            <a:solidFill>
              <a:srgbClr val="4F81B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solidFill>
                  <a:srgbClr val="2F5597"/>
                </a:solidFill>
                <a:latin typeface="Calibri"/>
              </a:defRPr>
            </a:pPr>
            <a:r>
              <a:t>IN SCOPE  Decoupled perception → verified nutrition → active inquiry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Out of scope"/>
          <p:cNvSpPr/>
          <p:nvPr/>
        </p:nvSpPr>
        <p:spPr>
          <a:xfrm>
            <a:off x="5989320" y="5440680"/>
            <a:ext cx="5120640" cy="502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solidFill>
                  <a:srgbClr val="404040"/>
                </a:solidFill>
                <a:latin typeface="Calibri"/>
              </a:defRPr>
            </a:pPr>
            <a:r>
              <a:t>OUT OF SCOPE  Diagnosis, treatment, unsupported clinical claims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59"/>
            <a:ext cx="10972800" cy="269747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l"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A decoupled, four-tier human-in-the-loop architecture: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1. Multimodal Perception: Detect food boundaries, extract DINOv2 rim Re-ID descriptors, and infer depth geometry.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2. Nutritional Grounding: Retrieve certified proximate nutrients via FastEmbed 384-D vector search against ICMR-NIN &amp; USDA.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3. Bayesian Personalization: Update log-normal tableware volume priors with clamped Taylor discretization shift.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4. Active VoI Inquiry: Bound uncertainty via split-conformal calibration (90%) and prompt high-gain questions (≤3/day).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74904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Three layers, one order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Measure layer"/>
          <p:cNvSpPr/>
          <p:nvPr/>
        </p:nvSpPr>
        <p:spPr>
          <a:xfrm>
            <a:off x="914400" y="4114799"/>
            <a:ext cx="9875520" cy="566928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500">
                <a:solidFill>
                  <a:srgbClr val="FFFFFF"/>
                </a:solidFill>
                <a:latin typeface="Calibri"/>
              </a:defRPr>
            </a:pPr>
            <a:r>
              <a:t>1  PERCEIVE &amp; ANCHOR  •  food boundaries • DINOv2 tableware rim Re-ID • analytical depth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5715000" y="4727448"/>
            <a:ext cx="274320" cy="25603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Ground layer"/>
          <p:cNvSpPr/>
          <p:nvPr/>
        </p:nvSpPr>
        <p:spPr>
          <a:xfrm>
            <a:off x="914400" y="5029200"/>
            <a:ext cx="9875520" cy="566928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500">
                <a:solidFill>
                  <a:srgbClr val="FFFFFF"/>
                </a:solidFill>
                <a:latin typeface="Calibri"/>
              </a:defRPr>
            </a:pPr>
            <a:r>
              <a:t>2  GROUND &amp; MODEL  •  FastEmbed (BGE) 384-D retrieval • ICMR-NIN &amp; USDA certified data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5715000" y="5641848"/>
            <a:ext cx="274320" cy="25603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onstrain layer"/>
          <p:cNvSpPr/>
          <p:nvPr/>
        </p:nvSpPr>
        <p:spPr>
          <a:xfrm>
            <a:off x="914400" y="5943600"/>
            <a:ext cx="9875520" cy="566928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450">
                <a:solidFill>
                  <a:srgbClr val="FFFFFF"/>
                </a:solidFill>
                <a:latin typeface="Calibri"/>
              </a:defRPr>
            </a:pPr>
            <a:r>
              <a:t>3  CALIBRATE &amp; INQUIRE  •  Bayesian tableware prior update • Split-conformal bounds (90%) • VoI inquiry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"/>
          <p:cNvSpPr/>
          <p:nvPr/>
        </p:nvSpPr>
        <p:spPr>
          <a:xfrm>
            <a:off x="914400" y="6583680"/>
            <a:ext cx="987552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250">
                <a:solidFill>
                  <a:srgbClr val="2F5597"/>
                </a:solidFill>
                <a:latin typeface="Calibri"/>
              </a:defRPr>
            </a:pPr>
            <a:r>
              <a:t>Decoupled physical measurement strictly precedes nutritional composition lookup.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1. Build an open-world meal analysis pipeline decoupling visual geometry from nutrient lookup (Invariant I1).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2. Implement sub-20ms tableware Re-ID using Vision Transformers (Meta DINOv2) to track personal container volumes.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3. Ground foods against certified reference databases (ICMR-NIN IFCT 2017 &amp; USDA FNDDS) using dense semantic embeddings.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4. Deliver finite-sample split-conformal 90% confidence intervals and active VoI inquiry under a daily budget (≤3 Q/day).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5. Deploy an end-to-end working prototype on a physical Android device with native ambient notification scheduling.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60"/>
            <a:ext cx="10972800" cy="2286000"/>
          </a:xfrm>
        </p:spPr>
        <p:txBody>
          <a:bodyPr vert="horz" wrap="square" lIns="60000" tIns="30000" rIns="60000" bIns="30000" anchor="t">
            <a:normAutofit/>
          </a:bodyPr>
          <a:lstStyle/>
          <a:p>
            <a:pPr marL="0" indent="0" algn="l">
              <a:spcAft>
                <a:spcPts val="150"/>
              </a:spcAft>
              <a:buNone/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1. Ingestion: Curate and index 169 certified reference foods from ICMR-NIN IFCT 2017 and USDA FNDDS with 384-D vectors.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2. Vision Pipeline: Segment food regions and extract 384-D rim patch tokens using Meta DINOv2 (dinov2_vits14_reg).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3. Resolution &amp; Volume: FastEmbed semantic resolution with centroid subtraction; analytical depth/volume integration.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4. Uncertainty &amp; Allocation: Closed-form Monte Carlo propagation, split-conformal calibration, and Value-of-Information (VoI) inquiry.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5. Empirical Validation: Three-tier in-silico benchmark, longitudinal simulation, and physical on-device deployment.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52044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Research phases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Phase"/>
          <p:cNvSpPr/>
          <p:nvPr/>
        </p:nvSpPr>
        <p:spPr>
          <a:xfrm>
            <a:off x="59436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400">
                <a:latin typeface="Times New Roman"/>
              </a:defRPr>
            </a:pPr>
            <a:r>
              <a:t>P1  Grounding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Phase"/>
          <p:cNvSpPr/>
          <p:nvPr/>
        </p:nvSpPr>
        <p:spPr>
          <a:xfrm>
            <a:off x="278892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400">
                <a:latin typeface="Times New Roman"/>
              </a:defRPr>
            </a:pPr>
            <a:r>
              <a:t>P2  Perception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Phase"/>
          <p:cNvSpPr/>
          <p:nvPr/>
        </p:nvSpPr>
        <p:spPr>
          <a:xfrm>
            <a:off x="498348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400">
                <a:latin typeface="Times New Roman"/>
              </a:defRPr>
            </a:pPr>
            <a:r>
              <a:t>P3  Resolution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Phase"/>
          <p:cNvSpPr/>
          <p:nvPr/>
        </p:nvSpPr>
        <p:spPr>
          <a:xfrm>
            <a:off x="717804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400">
                <a:latin typeface="Times New Roman"/>
              </a:defRPr>
            </a:pPr>
            <a:r>
              <a:t>P4  Calibration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Phase"/>
          <p:cNvSpPr/>
          <p:nvPr/>
        </p:nvSpPr>
        <p:spPr>
          <a:xfrm>
            <a:off x="937260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400">
                <a:latin typeface="Times New Roman"/>
              </a:defRPr>
            </a:pPr>
            <a:r>
              <a:t>P5  Deployment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Arrow"/>
          <p:cNvSpPr/>
          <p:nvPr/>
        </p:nvSpPr>
        <p:spPr>
          <a:xfrm>
            <a:off x="254203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"/>
          <p:cNvSpPr/>
          <p:nvPr/>
        </p:nvSpPr>
        <p:spPr>
          <a:xfrm>
            <a:off x="473659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"/>
          <p:cNvSpPr/>
          <p:nvPr/>
        </p:nvSpPr>
        <p:spPr>
          <a:xfrm>
            <a:off x="693115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"/>
          <p:cNvSpPr/>
          <p:nvPr/>
        </p:nvSpPr>
        <p:spPr>
          <a:xfrm>
            <a:off x="912571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59436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100">
                <a:latin typeface="Times New Roman"/>
              </a:defRPr>
            </a:pPr>
            <a:r>
              <a:t>169 certified foods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Text"/>
          <p:cNvSpPr/>
          <p:nvPr/>
        </p:nvSpPr>
        <p:spPr>
          <a:xfrm>
            <a:off x="498348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100">
                <a:latin typeface="Times New Roman"/>
              </a:defRPr>
            </a:pPr>
            <a:r>
              <a:t>DINOv2 + FastEmbed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"/>
          <p:cNvSpPr/>
          <p:nvPr/>
        </p:nvSpPr>
        <p:spPr>
          <a:xfrm>
            <a:off x="937260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100">
                <a:latin typeface="Times New Roman"/>
              </a:defRPr>
            </a:pPr>
            <a:r>
              <a:t>Vivo V2253 (155 tests)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240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1. Physical Smartphone: Vivo V2253 running Android 14 with high-resolution RGB camera and WebView bridge.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2. Host Development Workstation: Multi-core host with Apple Silicon / x86-64 CPU (8–16 GB RAM) for model execution.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3. Tableware Archetypes: Standardized household bowls, katoris, and plates for metric volume calibration.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4. Host-to-Device Bridge: High-speed USB-C interface with automated reverse ADB port forwarding daemon.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493008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Hardware for the prototype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Hardware tile"/>
          <p:cNvSpPr/>
          <p:nvPr/>
        </p:nvSpPr>
        <p:spPr>
          <a:xfrm>
            <a:off x="502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PHONE</a:t>
            </a:r>
            <a:endParaRPr lang="en-US" sz="1450" dirty="0">
              <a:latin typeface="Calibri"/>
              <a:ea typeface="Calibri"/>
              <a:cs typeface="Calibri"/>
            </a:endParaRPr>
          </a:p>
          <a:p>
            <a:pPr>
              <a:defRPr sz="1300">
                <a:latin typeface="Times New Roman"/>
              </a:defRPr>
            </a:pPr>
            <a:r>
              <a:t>Vivo V2253 (Android 14)</a:t>
            </a:r>
          </a:p>
        </p:txBody>
      </p:sp>
      <p:sp>
        <p:nvSpPr>
          <p:cNvPr id="8" name="Hardware tile"/>
          <p:cNvSpPr/>
          <p:nvPr/>
        </p:nvSpPr>
        <p:spPr>
          <a:xfrm>
            <a:off x="2788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HOST WORKSTATION</a:t>
            </a:r>
            <a:endParaRPr lang="en-US" sz="1450" dirty="0">
              <a:latin typeface="Calibri"/>
              <a:ea typeface="Calibri"/>
              <a:cs typeface="Calibri"/>
            </a:endParaRPr>
          </a:p>
          <a:p>
            <a:pPr>
              <a:defRPr sz="1300">
                <a:latin typeface="Times New Roman"/>
              </a:defRPr>
            </a:pPr>
            <a:r>
              <a:t>8–16 GB RAM (CPU/M-Series)</a:t>
            </a:r>
          </a:p>
        </p:txBody>
      </p:sp>
      <p:sp>
        <p:nvSpPr>
          <p:cNvPr id="9" name="Hardware tile"/>
          <p:cNvSpPr/>
          <p:nvPr/>
        </p:nvSpPr>
        <p:spPr>
          <a:xfrm>
            <a:off x="5074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TABLEWARE ANCHORS</a:t>
            </a:r>
            <a:endParaRPr lang="en-US" sz="1450" dirty="0">
              <a:latin typeface="Calibri"/>
              <a:ea typeface="Calibri"/>
              <a:cs typeface="Calibri"/>
            </a:endParaRPr>
          </a:p>
          <a:p>
            <a:pPr>
              <a:defRPr sz="1300">
                <a:latin typeface="Times New Roman"/>
              </a:defRPr>
            </a:pPr>
            <a:r>
              <a:t>Calibrated Bowls/Plates</a:t>
            </a:r>
          </a:p>
        </p:txBody>
      </p:sp>
      <p:sp>
        <p:nvSpPr>
          <p:cNvPr id="10" name="Hardware tile"/>
          <p:cNvSpPr/>
          <p:nvPr/>
        </p:nvSpPr>
        <p:spPr>
          <a:xfrm>
            <a:off x="7360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USB-C BRIDGE</a:t>
            </a:r>
            <a:endParaRPr lang="en-US" sz="1450" dirty="0">
              <a:latin typeface="Calibri"/>
              <a:ea typeface="Calibri"/>
              <a:cs typeface="Calibri"/>
            </a:endParaRPr>
          </a:p>
          <a:p>
            <a:pPr>
              <a:defRPr sz="1300">
                <a:latin typeface="Times New Roman"/>
              </a:defRPr>
            </a:pPr>
            <a:r>
              <a:t>Reverse ADB (tcp:8000)</a:t>
            </a:r>
          </a:p>
        </p:txBody>
      </p:sp>
      <p:sp>
        <p:nvSpPr>
          <p:cNvPr id="11" name="Hardware tile"/>
          <p:cNvSpPr/>
          <p:nvPr/>
        </p:nvSpPr>
        <p:spPr>
          <a:xfrm>
            <a:off x="9646920" y="3886200"/>
            <a:ext cx="1965960" cy="10058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DEPTH SENSING</a:t>
            </a:r>
            <a:endParaRPr lang="en-US" sz="1450" dirty="0">
              <a:latin typeface="Calibri"/>
              <a:ea typeface="Calibri"/>
              <a:cs typeface="Calibri"/>
            </a:endParaRPr>
          </a:p>
          <a:p>
            <a:pPr>
              <a:defRPr sz="1300">
                <a:latin typeface="Times New Roman"/>
              </a:defRPr>
            </a:pPr>
            <a:r>
              <a:t>Analytical Engine (LiDAR)</a:t>
            </a:r>
          </a:p>
        </p:txBody>
      </p:sp>
      <p:sp>
        <p:nvSpPr>
          <p:cNvPr id="12" name="Text"/>
          <p:cNvSpPr/>
          <p:nvPr/>
        </p:nvSpPr>
        <p:spPr>
          <a:xfrm>
            <a:off x="685800" y="5166360"/>
            <a:ext cx="457200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Blue = required for the prototype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"/>
          <p:cNvSpPr/>
          <p:nvPr/>
        </p:nvSpPr>
        <p:spPr>
          <a:xfrm>
            <a:off x="6400800" y="5166360"/>
            <a:ext cx="457200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Gray = optional / future extension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1. Neural Vision &amp; Embedding: Meta DINOv2 (dinov2_vits14_reg), FastEmbed (BAAI/bge-small-en-v1.5), ONNX Runtime.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2. Backend &amp; Math: Python 3.11, FastAPI, SQLAlchemy 2.0, NumPy, SciPy (analytical volume &amp; Monte Carlo simulation).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3. Relational Storage: SQLite / PostgreSQL with pgvector for 384-D vector similarity queries.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4. Mobile Client &amp; Notification: Android Kotlin native shell, Android WebView bridge, NotificationChannel API.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6" name="Step 1"/>
          <p:cNvSpPr/>
          <p:nvPr/>
        </p:nvSpPr>
        <p:spPr>
          <a:xfrm>
            <a:off x="50292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1  Capture Meal Image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tep 2"/>
          <p:cNvSpPr/>
          <p:nvPr/>
        </p:nvSpPr>
        <p:spPr>
          <a:xfrm>
            <a:off x="315468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2  DINOv2 Tableware Re-ID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tep 3"/>
          <p:cNvSpPr/>
          <p:nvPr/>
        </p:nvSpPr>
        <p:spPr>
          <a:xfrm>
            <a:off x="580644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3  Analytical Depth Volume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tep 4"/>
          <p:cNvSpPr/>
          <p:nvPr/>
        </p:nvSpPr>
        <p:spPr>
          <a:xfrm>
            <a:off x="845820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4  FastEmbed Food Grounding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Arrow"/>
          <p:cNvSpPr/>
          <p:nvPr/>
        </p:nvSpPr>
        <p:spPr>
          <a:xfrm>
            <a:off x="294436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"/>
          <p:cNvSpPr/>
          <p:nvPr/>
        </p:nvSpPr>
        <p:spPr>
          <a:xfrm>
            <a:off x="559612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"/>
          <p:cNvSpPr/>
          <p:nvPr/>
        </p:nvSpPr>
        <p:spPr>
          <a:xfrm>
            <a:off x="824788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 down"/>
          <p:cNvSpPr/>
          <p:nvPr/>
        </p:nvSpPr>
        <p:spPr>
          <a:xfrm>
            <a:off x="9555480" y="2212848"/>
            <a:ext cx="228600" cy="6858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 5"/>
          <p:cNvSpPr/>
          <p:nvPr/>
        </p:nvSpPr>
        <p:spPr>
          <a:xfrm>
            <a:off x="845820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5  Bayesian Tableware Prior Update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tep 6"/>
          <p:cNvSpPr/>
          <p:nvPr/>
        </p:nvSpPr>
        <p:spPr>
          <a:xfrm>
            <a:off x="580644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6  Split-Conformal 90% Bounds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tep 7"/>
          <p:cNvSpPr/>
          <p:nvPr/>
        </p:nvSpPr>
        <p:spPr>
          <a:xfrm>
            <a:off x="315468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7  Active VoI Inquiry (≤3/day)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Arrow left"/>
          <p:cNvSpPr/>
          <p:nvPr/>
        </p:nvSpPr>
        <p:spPr>
          <a:xfrm>
            <a:off x="821131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rrow left"/>
          <p:cNvSpPr/>
          <p:nvPr/>
        </p:nvSpPr>
        <p:spPr>
          <a:xfrm>
            <a:off x="555955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Flow note"/>
          <p:cNvSpPr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  <a:defRPr sz="1500">
                <a:solidFill>
                  <a:srgbClr val="2F5597"/>
                </a:solidFill>
                <a:latin typeface="Times New Roman"/>
              </a:defRPr>
            </a:pPr>
            <a:r>
              <a:t>Bayesian Tableware Prior Update Loop: repeated meals progressively narrow volume uncertainty.</a:t>
            </a:r>
            <a:endParaRPr lang="en-IN"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rrection loop"/>
          <p:cNvSpPr/>
          <p:nvPr/>
        </p:nvSpPr>
        <p:spPr>
          <a:xfrm>
            <a:off x="3840480" y="4224528"/>
            <a:ext cx="4389120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"/>
          <p:cNvSpPr/>
          <p:nvPr/>
        </p:nvSpPr>
        <p:spPr>
          <a:xfrm>
            <a:off x="4800600" y="4498848"/>
            <a:ext cx="256032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200">
                <a:solidFill>
                  <a:srgbClr val="2F5597"/>
                </a:solidFill>
                <a:latin typeface="Calibri"/>
              </a:defRPr>
            </a:pPr>
            <a:r>
              <a:t>adaptive prior loop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057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1. Multimodal Perception &amp; Tableware Re-ID Engine — segment foods, infer depth, extract 384-D rim descriptors.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2. Federated Food Resolution Engine — FastEmbed BGE 384-D semantic retrieval against ICMR-NIN and USDA FNDDS.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3. Bayesian Prior &amp; Analytical Volume Engine — update log-normal container priors and propagate variance.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4. Active Question Allocator &amp; Conformal Calibrator — schedule max 3 questions/day via VoI and compute 90% intervals.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24612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How the modules work together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Module band"/>
          <p:cNvSpPr/>
          <p:nvPr/>
        </p:nvSpPr>
        <p:spPr>
          <a:xfrm>
            <a:off x="1143000" y="3639312"/>
            <a:ext cx="9144000" cy="438912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1  Multimodal Perception &amp; Re-ID  →  DINOv2 rim features + depth volume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5577840" y="4087368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Module band"/>
          <p:cNvSpPr/>
          <p:nvPr/>
        </p:nvSpPr>
        <p:spPr>
          <a:xfrm>
            <a:off x="1143000" y="4215384"/>
            <a:ext cx="9144000" cy="438912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2  Federated Food Resolution  →  FastEmbed BGE 384-D retrieval (ICMR-NIN/USDA)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5577840" y="4663440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Module band"/>
          <p:cNvSpPr/>
          <p:nvPr/>
        </p:nvSpPr>
        <p:spPr>
          <a:xfrm>
            <a:off x="1143000" y="4791456"/>
            <a:ext cx="9144000" cy="438912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3  Bayesian Prior &amp; Math Engine  →  Log-normal updating + Monte Carlo propagation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Arrow"/>
          <p:cNvSpPr/>
          <p:nvPr/>
        </p:nvSpPr>
        <p:spPr>
          <a:xfrm>
            <a:off x="5577840" y="5239512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Module band"/>
          <p:cNvSpPr/>
          <p:nvPr/>
        </p:nvSpPr>
        <p:spPr>
          <a:xfrm>
            <a:off x="1143000" y="5367528"/>
            <a:ext cx="9144000" cy="438912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300">
                <a:latin typeface="Times New Roman"/>
              </a:defRPr>
            </a:pPr>
            <a:r>
              <a:t>4  Active VoI Allocator &amp; Calibrator  →  Conformal bounds + ambient delayed prompts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"/>
          <p:cNvSpPr/>
          <p:nvPr/>
        </p:nvSpPr>
        <p:spPr>
          <a:xfrm>
            <a:off x="1143000" y="6053328"/>
            <a:ext cx="9144000" cy="25603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200">
                <a:latin typeface="Times New Roman"/>
              </a:defRPr>
            </a:pPr>
            <a:r>
              <a:t>Strict separation of concerns: visual perception, certified composition, uncertainty, and user interaction.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1. Decoupled Perception vs. Direct Hallucination: Separates pixel-level geometry from certified chemical composition.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2. DINOv2 Rim-Masked Re-ID: Sub-20ms tableware container identification robust to heavy food occlusion.</a:t>
            </a: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3. Finite-Sample Split-Conformal Calibration: Non-asymptotic 90% coverage without assuming Gaussian error distributions.</a:t>
            </a: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4. Value of Information (VoI) Daily Inquiry Budget: Mathematically limits user interaction burden to ≤3 questions/day.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1. Tier 1 Weighed Benchmark: 200 multi-cuisine dishes (Western, Asian, Indian, Mediterranean) evaluated against ground truth.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2. Tier 2 Longitudinal Simulation: 200 synthetic personas simulated across 60 days (36,000 meals) evaluating active VoI policies.</a:t>
            </a: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3. Tier 3 Consumer Scale Cohort: 18 synthetic households across 14 days (756 meals) evaluating Bland-Altman LoA and conformal coverage.</a:t>
            </a:r>
          </a:p>
          <a:p>
            <a:pPr>
              <a:defRPr sz="2800">
                <a:solidFill>
                  <a:srgbClr val="000000"/>
                </a:solidFill>
                <a:latin typeface="Times New Roman"/>
              </a:defRPr>
            </a:pPr>
            <a:r>
              <a:t>4. On-Device Verification: Native deployment on Vivo V2253 validating sub-second cold/warm latency and ambient notifications.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3120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119303" cy="251809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l"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1. Literature Baseline: VLM calorie estimates exhibit wide error signals (Zhao 15.7%, Moyen 27.4%, Vedovelli 45.6% sMAPE).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2. Tier 1 In-Silico Weighed Benchmark: MessMate decoupled pipeline achieves 35.3 kcal MAE (-79.0% reduction vs direct VLM, p &lt; 0.0001).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3. Tier 2 Active Inquiry Efficiency: VoI allocator consumes 0.76 Q/meal with 100% oracle accuracy; prior converges in 12–18 meals.</a:t>
            </a:r>
          </a:p>
          <a:p>
            <a:pPr>
              <a:defRPr sz="2400">
                <a:solidFill>
                  <a:srgbClr val="000000"/>
                </a:solidFill>
                <a:latin typeface="Times New Roman"/>
              </a:defRPr>
            </a:pPr>
            <a:r>
              <a:t>4. Tier 3 Conformal Guarantee: 58.4% Bland-Altman LoA span narrowing, Lin's CCC 0.914 (+0.605), and 91.53% empirical test coverage.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75887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Literature-reported error signals — not project results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Grid line"/>
          <p:cNvSpPr/>
          <p:nvPr/>
        </p:nvSpPr>
        <p:spPr>
          <a:xfrm>
            <a:off x="1828800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1645920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Grid line"/>
          <p:cNvSpPr/>
          <p:nvPr/>
        </p:nvSpPr>
        <p:spPr>
          <a:xfrm>
            <a:off x="3054096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2871215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Grid line"/>
          <p:cNvSpPr/>
          <p:nvPr/>
        </p:nvSpPr>
        <p:spPr>
          <a:xfrm>
            <a:off x="4279392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4096511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Grid line"/>
          <p:cNvSpPr/>
          <p:nvPr/>
        </p:nvSpPr>
        <p:spPr>
          <a:xfrm>
            <a:off x="5504688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5321807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30%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Grid line"/>
          <p:cNvSpPr/>
          <p:nvPr/>
        </p:nvSpPr>
        <p:spPr>
          <a:xfrm>
            <a:off x="6729984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6547104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40%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Grid line"/>
          <p:cNvSpPr/>
          <p:nvPr/>
        </p:nvSpPr>
        <p:spPr>
          <a:xfrm>
            <a:off x="7955279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"/>
          <p:cNvSpPr/>
          <p:nvPr/>
        </p:nvSpPr>
        <p:spPr>
          <a:xfrm>
            <a:off x="7772400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50%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Axis"/>
          <p:cNvSpPr/>
          <p:nvPr/>
        </p:nvSpPr>
        <p:spPr>
          <a:xfrm>
            <a:off x="1828800" y="5989320"/>
            <a:ext cx="6126480" cy="13716"/>
          </a:xfrm>
          <a:prstGeom prst="rect">
            <a:avLst/>
          </a:prstGeom>
          <a:solidFill>
            <a:srgbClr val="2F5597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502920" y="4142232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Zhao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Bar"/>
          <p:cNvSpPr/>
          <p:nvPr/>
        </p:nvSpPr>
        <p:spPr>
          <a:xfrm>
            <a:off x="1828800" y="4160519"/>
            <a:ext cx="1921264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3823216" y="4142232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15.68%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4471416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Moyen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Bar"/>
          <p:cNvSpPr/>
          <p:nvPr/>
        </p:nvSpPr>
        <p:spPr>
          <a:xfrm>
            <a:off x="1828800" y="4489704"/>
            <a:ext cx="3357311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"/>
          <p:cNvSpPr/>
          <p:nvPr/>
        </p:nvSpPr>
        <p:spPr>
          <a:xfrm>
            <a:off x="5259263" y="4471416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27.4%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Text"/>
          <p:cNvSpPr/>
          <p:nvPr/>
        </p:nvSpPr>
        <p:spPr>
          <a:xfrm>
            <a:off x="502920" y="4800600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Papathanail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Bar"/>
          <p:cNvSpPr/>
          <p:nvPr/>
        </p:nvSpPr>
        <p:spPr>
          <a:xfrm>
            <a:off x="1828800" y="4818887"/>
            <a:ext cx="3357311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"/>
          <p:cNvSpPr/>
          <p:nvPr/>
        </p:nvSpPr>
        <p:spPr>
          <a:xfrm>
            <a:off x="5259263" y="4800600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27.4%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9" name="Text"/>
          <p:cNvSpPr/>
          <p:nvPr/>
        </p:nvSpPr>
        <p:spPr>
          <a:xfrm>
            <a:off x="502920" y="5129784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Shonkoff max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Bar"/>
          <p:cNvSpPr/>
          <p:nvPr/>
        </p:nvSpPr>
        <p:spPr>
          <a:xfrm>
            <a:off x="1828800" y="5148072"/>
            <a:ext cx="4692883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"/>
          <p:cNvSpPr/>
          <p:nvPr/>
        </p:nvSpPr>
        <p:spPr>
          <a:xfrm>
            <a:off x="6594835" y="5129784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38.3%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Text"/>
          <p:cNvSpPr/>
          <p:nvPr/>
        </p:nvSpPr>
        <p:spPr>
          <a:xfrm>
            <a:off x="502920" y="5458968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Vedovelli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Bar"/>
          <p:cNvSpPr/>
          <p:nvPr/>
        </p:nvSpPr>
        <p:spPr>
          <a:xfrm>
            <a:off x="1828800" y="5477255"/>
            <a:ext cx="5587349" cy="201168"/>
          </a:xfrm>
          <a:prstGeom prst="rect">
            <a:avLst/>
          </a:prstGeom>
          <a:solidFill>
            <a:srgbClr val="C0504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"/>
          <p:cNvSpPr/>
          <p:nvPr/>
        </p:nvSpPr>
        <p:spPr>
          <a:xfrm>
            <a:off x="7489301" y="5458968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45.6%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Chart note"/>
          <p:cNvSpPr/>
          <p:nvPr/>
        </p:nvSpPr>
        <p:spPr>
          <a:xfrm>
            <a:off x="8366760" y="4160519"/>
            <a:ext cx="2331720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Study-specific values; not directly comparable. Recognition accuracy is not nutrient accuracy.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46353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2860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l">
              <a:spcAft>
                <a:spcPts val="200"/>
              </a:spcAft>
              <a:buNone/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1. Decoupling visual geometry from certified chemical composition is dramatically superior to monolithic VLM guessing.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2. Personal tableware calibration and Bayesian volume priors effectively resolve the primary source of dietary estimation error.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3. Split-conformal calibration delivers mathematically honest confidence intervals that respect finite-sample uncertainty.</a:t>
            </a:r>
          </a:p>
          <a:p>
            <a:pPr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4. Fully implemented, passing 155/155 tests, and operational on physical hardware (Vivo V2253).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30168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From prototype to validated support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Now"/>
          <p:cNvSpPr/>
          <p:nvPr/>
        </p:nvSpPr>
        <p:spPr>
          <a:xfrm>
            <a:off x="731520" y="4069080"/>
            <a:ext cx="4800600" cy="132588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500">
                <a:solidFill>
                  <a:srgbClr val="FFFFFF"/>
                </a:solidFill>
                <a:latin typeface="Calibri"/>
              </a:defRPr>
            </a:pPr>
            <a:r>
              <a:t>NOW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• Decoupled perception &amp; DINOv2 Re-ID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• FastEmbed certified IFCT / USDA grounding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• 155/155 tests green • Live on Vivo V2253</a:t>
            </a:r>
          </a:p>
        </p:txBody>
      </p:sp>
      <p:sp>
        <p:nvSpPr>
          <p:cNvPr id="8" name="Arrow"/>
          <p:cNvSpPr/>
          <p:nvPr/>
        </p:nvSpPr>
        <p:spPr>
          <a:xfrm>
            <a:off x="5669280" y="4599432"/>
            <a:ext cx="41148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Next"/>
          <p:cNvSpPr/>
          <p:nvPr/>
        </p:nvSpPr>
        <p:spPr>
          <a:xfrm>
            <a:off x="6400800" y="4069080"/>
            <a:ext cx="480060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500">
                <a:solidFill>
                  <a:srgbClr val="404040"/>
                </a:solidFill>
                <a:latin typeface="Calibri"/>
              </a:defRPr>
            </a:pPr>
            <a:r>
              <a:t>NEXT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>
              <a:defRPr sz="1500">
                <a:solidFill>
                  <a:srgbClr val="404040"/>
                </a:solidFill>
                <a:latin typeface="Calibri"/>
              </a:defRPr>
            </a:pPr>
            <a:r>
              <a:t>• Stereoscopic / LiDAR depth point clouds</a:t>
            </a:r>
          </a:p>
          <a:p>
            <a:pPr>
              <a:defRPr sz="1500">
                <a:solidFill>
                  <a:srgbClr val="404040"/>
                </a:solidFill>
                <a:latin typeface="Calibri"/>
              </a:defRPr>
            </a:pPr>
            <a:r>
              <a:t>• Multi-regional cuisine database expansion</a:t>
            </a:r>
          </a:p>
          <a:p>
            <a:pPr>
              <a:defRPr sz="1500">
                <a:solidFill>
                  <a:srgbClr val="404040"/>
                </a:solidFill>
                <a:latin typeface="Calibri"/>
              </a:defRPr>
            </a:pPr>
            <a:r>
              <a:t>• IRB-approved clinical human trial evaluation</a:t>
            </a:r>
          </a:p>
        </p:txBody>
      </p:sp>
      <p:sp>
        <p:nvSpPr>
          <p:cNvPr id="10" name="Text"/>
          <p:cNvSpPr/>
          <p:nvPr/>
        </p:nvSpPr>
        <p:spPr>
          <a:xfrm>
            <a:off x="1097280" y="5852160"/>
            <a:ext cx="9875520" cy="32004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  <a:defRPr sz="1400">
                <a:solidFill>
                  <a:srgbClr val="2F5597"/>
                </a:solidFill>
                <a:latin typeface="Calibri"/>
              </a:defRPr>
            </a:pPr>
            <a:r>
              <a:t>End-to-end working prototype bridging computer vision, nutritional science, and user ergonomics.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25880"/>
            <a:ext cx="5623560" cy="4983480"/>
          </a:xfrm>
        </p:spPr>
        <p:txBody>
          <a:bodyPr vert="horz" wrap="square" lIns="60000" tIns="30000" rIns="60000" bIns="30000" anchor="t">
            <a:normAutofit fontScale="92500" lnSpcReduction="10000"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Dalakleidi et al. (2022). Applying Image-Based Food-Recognition Systems on Dietary Assessment: A Systematic Review. Advances in Nutrition, 13(6), 2590–2619. DOI: 10.1093/advances/nmac078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Stefanidis et al. (2022). PROTEIN AI Advisor: A Knowledge-Based Recommendation Framework Using Expert-Validated Meals for Healthy Diets. Nutrients, 14(20), 4435. DOI: 10.3390/nu14204435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Moyen et al. (2022). Relative Validation of an Artificial Intelligence–Enhanced, Image-Assisted Mobile App for Dietary Assessment in Adults: Randomized Crossover Study. Journal of Medical Internet Research, 24(11), e40449. DOI: 10.2196/40449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Shonkoff et al. (2023). AI-Based Digital Image Dietary Assessment Methods Compared to Humans and Ground Truth: A Systematic Review. Annals of Medicine, 55(2), 2273497. DOI: 10.1080/07853890.2023.2273497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Wu et al. (2024). OVFoodSeg: Elevating Open-Vocabulary Food Image Segmentation via Image-Informed Textual Representation. CVPR, 4144–4153. DOI: 10.1109/CVPR52733.2024.00397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Papathanail et al. (2023). The Nutritional Content of Meal Images in Free-Living Conditions—Automatic Assessment with goFOOD™. Nutrients, 15(17), 3835. DOI: 10.3390/nu15173835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Konstantakopoulos et al. (2023). An Automated Image-Based Dietary Assessment System for Mediterranean Foods. IEEE Open Journal of Engineering in Medicine and Biology, 4, 45–54. DOI: 10.1109/OJEMB.2023.3266135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 Amiri, Li and Hasan (2023). Personalized Flexible Meal Planning for Individuals With Diet-Related Health Concerns: System Design and Feasibility Validation Study. JMIR Formative Research, 7, e46434. DOI: 10.2196/46434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 Romero-Tapiador et al. (2025). Are Vision-Language Models Ready for Dietary Assessment? Exploring the Next Frontier in AI-Powered Food Image Recognition. CVPR Workshops, 430–439. DOI: 10.1109/CVPRW67362.2025.00047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 Zhao et al. (2024). Visual Nutrition Analysis: Leveraging Segmentation and Regression for Food Nutrient Estimation. Frontiers in Nutrition, 11, 1469878. DOI: 10.3389/fnut.2024.1469878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  <p:sp>
        <p:nvSpPr>
          <p:cNvPr id="20" name="References Right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/>
        </p:nvSpPr>
        <p:spPr>
          <a:xfrm>
            <a:off x="6172200" y="1325880"/>
            <a:ext cx="5623560" cy="4983480"/>
          </a:xfrm>
        </p:spPr>
        <p:txBody>
          <a:bodyPr vert="horz" wrap="square" lIns="60000" tIns="30000" rIns="60000" bIns="30000" anchor="t">
            <a:normAutofit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11. Papastratis et al. (2024). AI Nutrition Recommendation Using a Deep Generative Model and ChatGPT. Scientific Reports, 14, 14620. DOI: 10.1038/s41598-024-65438-x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 Yang et al. (2024). ChatDiet: Empowering Personalized Nutrition-Oriented Food Recommender Chatbots Through an LLM-Augmented Framework. Smart Health, 32, 100465. DOI: 10.1016/j.smhl.2024.100465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13. Amiri, Rad and Li (2024). Delighting Palates with AI: Reinforcement Learning’s Triumph in Crafting Personalized Meal Plans with High User Acceptance. Nutrients, 16(3), 346. DOI: 10.3390/nu16030346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14. Yan et al. (2025). DietAI24 as a Framework for Comprehensive Nutrition Estimation Using Multimodal Large Language Models. Communications Medicine, 5, 458. DOI: 10.1038/s43856-025-01159-0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15. O’Hara et al. (2025). An Evaluation of ChatGPT for Nutrient Content Estimation from Meal Photographs. Nutrients, 17(4), 607. DOI: 10.3390/nu17040607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16. Khlaisamniang et al. (2025). Decomposing Food Images for Better Nutrition Analysis: A Nutritionist-Inspired Two-Step Multimodal LLM Approach. CVPR Workshops, 482–491. DOI: 10.1109/CVPRW67362.2025.00053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17. Zhang et al. (2025). MOPI-HFRS: A Multi-objective Personalized Health-aware Food Recommendation System with LLM-enhanced Interpretation. ACM SIGKDD, 2860–2871. DOI: 10.1145/3690624.3709382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18. Wang et al. (2026). Development of an Intelligent Food Nutrition Recognition and Nutrient Intake Assessment System in Hospital Settings. Frontiers in Nutrition, 13, 1637034. DOI: 10.3389/fnut.2026.1637034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19. Vedovelli et al. (2026). Model Architecture Dominates Nutritional Estimation Accuracy in Vision-Language Systems. Scientific Reports, 16, 29227. DOI: 10.1038/s41598-026-58755-w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20. Serra et al. (2026). Limited Validity of an AI-Powered App for Dietary Assessment in Females with Obesity. npj Digital Medicine, 9, 357. DOI: 10.1038/s41746-026-02536-2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5156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  <a:defRPr sz="1700">
                <a:solidFill>
                  <a:srgbClr val="000000"/>
                </a:solidFill>
                <a:latin typeface="Courier New"/>
              </a:defRPr>
            </a:pPr>
            <a:r>
              <a:t># 1. Meta DINOv2 Rim-Masked Re-ID Pooling (backend/app/services/vision/reid.py)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patch_tokens = dinov2_model.get_intermediate_layers(img_t, n=1)[0]  # [1, 256, 384]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rim_features = patch_tokens[0, rim_mask.flatten()]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tableware_descriptor = F.normalize(rim_features.mean(dim=0), p=2, dim=0)  # 384-D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# 2. FastEmbed 384-D Resolution with Centroid Subtraction (services/resolution/embedding.py)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q_vec = embedding_model.embed(dish_name)[0]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q_calibrated = F.normalize(q_vec - 0.35 * DOMAIN_CENTROID, p=2, dim=0)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food_match = certified_db.query_top1(q_calibrated, threshold=0.60)  # ICMR-NIN / USDA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# 3. Split-Conformal Finite-Sample Calibration (services/conformal/engine.py)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q_hat = np.quantile(residuals, np.ceil((N + 1) * 0.90) / N)  # Finite-sample guarantee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kcal_p10 = kcal_mean - q_hat * 1.645 * kcal_sd</a:t>
            </a:r>
          </a:p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kcal_p90 = kcal_mean + q_hat * 1.645 * kcal_sd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36372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Paper Title: AI-Based Smart Meal Analyzer &amp; Tableware Calibration System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Course Code: E1CSA313 / E1ITA306 (Design Project - 1)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Team Members: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1. HarshaVardhan BK        (Reg No: 2411021061475)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2. Praveen Kumar G          (Reg No: 2411021061449)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  3. Vikas Jadhav                  (Reg No: 2411021061485)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Project Mentor: Dr. M. Selvam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Department of Computer Science &amp; Engineering / Information Technology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Submission Date: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4420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Status: Final similarity check pending before final submission gate.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Reference Set: Grounded in the 20 verified peer-reviewed papers (2022–2026).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Attribution Discipline: All mathematical formulas, prior models, and literature baselines cited with permanent DOIs.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Submission Gate: University-approved plagiarism / similarity report to be attached prior to final review.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3193</Words>
  <Application>Microsoft Macintosh PowerPoint</Application>
  <PresentationFormat>Widescreen</PresentationFormat>
  <Paragraphs>372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Review of literature</vt:lpstr>
      <vt:lpstr>Review of literature</vt:lpstr>
      <vt:lpstr>Review of literature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HARSHA VARDHAN BK</cp:lastModifiedBy>
  <cp:revision>21</cp:revision>
  <cp:lastPrinted>2020-11-26T03:04:06Z</cp:lastPrinted>
  <dcterms:created xsi:type="dcterms:W3CDTF">2008-12-05T06:42:08Z</dcterms:created>
  <dcterms:modified xsi:type="dcterms:W3CDTF">2026-09-26T08:42:21Z</dcterms:modified>
</cp:coreProperties>
</file>